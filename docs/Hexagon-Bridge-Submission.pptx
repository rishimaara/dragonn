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latency (ms)</c:v>
                </c:pt>
              </c:strCache>
            </c:strRef>
          </c:tx>
          <c:spPr>
            <a:solidFill>
              <a:srgbClr val="1C7293"/>
            </a:solidFill>
            <a:effectLst/>
          </c:spPr>
          <c:invertIfNegative val="0"/>
          <c:dLbls>
            <c:numFmt formatCode="0.0&quot; ms&quot;" sourceLinked="0"/>
            <c:txPr>
              <a:bodyPr/>
              <a:lstStyle/>
              <a:p>
                <a:pPr>
                  <a:defRPr b="0" i="0" strike="noStrike" sz="1300" u="none">
                    <a:solidFill>
                      <a:srgbClr val="23272E"/>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E8A33D"/>
              </a:solidFill>
              <a:effectLst/>
            </c:spPr>
          </c:dPt>
          <c:cat>
            <c:multiLvlStrRef>
              <c:f>Sheet1!$A$2:$A$3</c:f>
              <c:multiLvlStrCache>
                <c:ptCount val="2"/>
                <c:lvl>
                  <c:pt idx="0">
                    <c:v>Qualcomm's encoder (FP16)</c:v>
                  </c:pt>
                  <c:pt idx="1">
                    <c:v>This pipeline's encoder (a16w8)</c:v>
                  </c:pt>
                </c:lvl>
              </c:multiLvlStrCache>
            </c:multiLvlStrRef>
          </c:cat>
          <c:val>
            <c:numRef>
              <c:f>Sheet1!$B$2:$B$3</c:f>
              <c:numCache>
                <c:formatCode>General</c:formatCode>
                <c:ptCount val="2"/>
                <c:pt idx="0">
                  <c:v>25</c:v>
                </c:pt>
                <c:pt idx="1">
                  <c:v>17.8</c:v>
                </c:pt>
              </c:numCache>
            </c:numRef>
          </c:val>
        </c:ser>
        <c:dLbls>
          <c:numFmt formatCode="0.0&quot; ms&quot;" sourceLinked="0"/>
          <c:txPr>
            <a:bodyPr/>
            <a:lstStyle/>
            <a:p>
              <a:pPr>
                <a:defRPr b="0" i="0" strike="noStrike" sz="1300" u="none">
                  <a:solidFill>
                    <a:srgbClr val="2327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3272E"/>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Hexagon Bridge is a pre-flight check, a conversion pipeline and a real-hardware validation loop for the Hexagon NPU in Snapdragon X PCs. Everything in this deck was measured on a real Snapdragon X Elite.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silent part is what makes this expensive: nothing errors. You ship, and the NPU was never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Hub job links only open for the account owner, so every result is committed as JSON and raw device logs that anyone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is the clearest case of the trap: the naive build places perfectly on the NPU and classifies 7% of images correctly. It needs per-channel weights, and nothing in the toolchain tells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limits next to results is the point: the project exists because this stack fails quietly, and a tool that overclaims would be part of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p:bgPr>
    </p:bg>
    <p:spTree>
      <p:nvGrpSpPr>
        <p:cNvPr id="1" name=""/>
        <p:cNvGrpSpPr/>
        <p:nvPr/>
      </p:nvGrpSpPr>
      <p:grpSpPr>
        <a:xfrm>
          <a:off x="0" y="0"/>
          <a:ext cx="0" cy="0"/>
          <a:chOff x="0" y="0"/>
          <a:chExt cx="0" cy="0"/>
        </a:xfrm>
      </p:grpSpPr>
      <p:sp>
        <p:nvSpPr>
          <p:cNvPr id="2" name="Text 0"/>
          <p:cNvSpPr txBox="1"/>
          <p:nvPr/>
        </p:nvSpPr>
        <p:spPr>
          <a:xfrm>
            <a:off x="640080" y="2057400"/>
            <a:ext cx="86868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Hexagon Bridge</a:t>
            </a:r>
            <a:endParaRPr lang="en-US" sz="6000" dirty="0"/>
          </a:p>
        </p:txBody>
      </p:sp>
      <p:sp>
        <p:nvSpPr>
          <p:cNvPr id="3" name="Text 1"/>
          <p:cNvSpPr txBox="1"/>
          <p:nvPr/>
        </p:nvSpPr>
        <p:spPr>
          <a:xfrm>
            <a:off x="640080" y="3154680"/>
            <a:ext cx="8412480" cy="1005840"/>
          </a:xfrm>
          <a:prstGeom prst="rect">
            <a:avLst/>
          </a:prstGeom>
          <a:noFill/>
          <a:ln/>
        </p:spPr>
        <p:txBody>
          <a:bodyPr wrap="square" lIns="0" tIns="0" rIns="0" bIns="0" rtlCol="0" anchor="ctr"/>
          <a:lstStyle/>
          <a:p>
            <a:pPr indent="0" marL="0">
              <a:lnSpc>
                <a:spcPts val="2600"/>
              </a:lnSpc>
              <a:buNone/>
            </a:pPr>
            <a:r>
              <a:rPr lang="en-US" sz="1700" dirty="0">
                <a:solidFill>
                  <a:srgbClr val="C9D3E0"/>
                </a:solidFill>
                <a:latin typeface="Calibri" pitchFamily="34" charset="0"/>
                <a:ea typeface="Calibri" pitchFamily="34" charset="-122"/>
                <a:cs typeface="Calibri" pitchFamily="34" charset="-120"/>
              </a:rPr>
              <a:t>Make the Hexagon NPU reachable for models nobody converted for you — and prove, on the laptop itself, that the NPU is really what ran them.</a:t>
            </a:r>
            <a:endParaRPr lang="en-US" sz="1700" dirty="0"/>
          </a:p>
        </p:txBody>
      </p:sp>
      <p:sp>
        <p:nvSpPr>
          <p:cNvPr id="4" name="Shape 2"/>
          <p:cNvSpPr/>
          <p:nvPr/>
        </p:nvSpPr>
        <p:spPr>
          <a:xfrm>
            <a:off x="640080" y="4434840"/>
            <a:ext cx="2788920" cy="457200"/>
          </a:xfrm>
          <a:prstGeom prst="roundRect">
            <a:avLst>
              <a:gd name="adj" fmla="val 16000"/>
            </a:avLst>
          </a:prstGeom>
          <a:solidFill>
            <a:srgbClr val="E8A33D"/>
          </a:solidFill>
          <a:ln w="12700">
            <a:solidFill>
              <a:srgbClr val="E8A33D"/>
            </a:solidFill>
            <a:prstDash val="solid"/>
          </a:ln>
        </p:spPr>
      </p:sp>
      <p:sp>
        <p:nvSpPr>
          <p:cNvPr id="5" name="Text 3"/>
          <p:cNvSpPr txBox="1"/>
          <p:nvPr/>
        </p:nvSpPr>
        <p:spPr>
          <a:xfrm>
            <a:off x="640080" y="4434840"/>
            <a:ext cx="2788920" cy="457200"/>
          </a:xfrm>
          <a:prstGeom prst="rect">
            <a:avLst/>
          </a:prstGeom>
          <a:noFill/>
          <a:ln/>
        </p:spPr>
        <p:txBody>
          <a:bodyPr wrap="square" lIns="0" tIns="0" rIns="0" bIns="0" rtlCol="0" anchor="ctr"/>
          <a:lstStyle/>
          <a:p>
            <a:pPr algn="ctr" indent="0" marL="0">
              <a:buNone/>
            </a:pPr>
            <a:r>
              <a:rPr lang="en-US" sz="1300" b="1" dirty="0">
                <a:solidFill>
                  <a:srgbClr val="1A2238"/>
                </a:solidFill>
                <a:latin typeface="Calibri" pitchFamily="34" charset="0"/>
                <a:ea typeface="Calibri" pitchFamily="34" charset="-122"/>
                <a:cs typeface="Calibri" pitchFamily="34" charset="-120"/>
              </a:rPr>
              <a:t>Every number measured</a:t>
            </a:r>
            <a:endParaRPr lang="en-US" sz="1300" dirty="0"/>
          </a:p>
        </p:txBody>
      </p:sp>
      <p:sp>
        <p:nvSpPr>
          <p:cNvPr id="6" name="Text 4"/>
          <p:cNvSpPr txBox="1"/>
          <p:nvPr/>
        </p:nvSpPr>
        <p:spPr>
          <a:xfrm>
            <a:off x="640080" y="5943600"/>
            <a:ext cx="10911535" cy="365760"/>
          </a:xfrm>
          <a:prstGeom prst="rect">
            <a:avLst/>
          </a:prstGeom>
          <a:noFill/>
          <a:ln/>
        </p:spPr>
        <p:txBody>
          <a:bodyPr wrap="square" lIns="0" tIns="0" rIns="0" bIns="0" rtlCol="0" anchor="ctr"/>
          <a:lstStyle/>
          <a:p>
            <a:pPr indent="0" marL="0">
              <a:buNone/>
            </a:pPr>
            <a:r>
              <a:rPr lang="en-US" sz="1200" dirty="0">
                <a:solidFill>
                  <a:srgbClr val="8CA0BA"/>
                </a:solidFill>
                <a:latin typeface="Calibri" pitchFamily="34" charset="0"/>
                <a:ea typeface="Calibri" pitchFamily="34" charset="-122"/>
                <a:cs typeface="Calibri" pitchFamily="34" charset="-120"/>
              </a:rPr>
              <a:t>Snapdragon® AI Lab Build &amp; Present Challenge 2026   ·   Rishi (RishiMaara)   ·   github.com/RishiMaara/Dragonn   ·   MIT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A 45 TOPS NPU you cannot reach</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Snapdragon X Elite, HP OmniBook — for any model outside a vendor catalog</a:t>
            </a:r>
            <a:endParaRPr lang="en-US" sz="1400" dirty="0"/>
          </a:p>
        </p:txBody>
      </p:sp>
      <p:sp>
        <p:nvSpPr>
          <p:cNvPr id="4" name="Shape 2"/>
          <p:cNvSpPr/>
          <p:nvPr/>
        </p:nvSpPr>
        <p:spPr>
          <a:xfrm>
            <a:off x="640080" y="1691640"/>
            <a:ext cx="10911535" cy="1280160"/>
          </a:xfrm>
          <a:prstGeom prst="roundRect">
            <a:avLst>
              <a:gd name="adj" fmla="val 5714"/>
            </a:avLst>
          </a:prstGeom>
          <a:solidFill>
            <a:srgbClr val="F4F6F8"/>
          </a:solidFill>
          <a:ln w="12700">
            <a:solidFill>
              <a:srgbClr val="F4F6F8"/>
            </a:solidFill>
            <a:prstDash val="solid"/>
          </a:ln>
        </p:spPr>
      </p:sp>
      <p:sp>
        <p:nvSpPr>
          <p:cNvPr id="5" name="Shape 3"/>
          <p:cNvSpPr/>
          <p:nvPr/>
        </p:nvSpPr>
        <p:spPr>
          <a:xfrm>
            <a:off x="960120" y="2075688"/>
            <a:ext cx="502920" cy="502920"/>
          </a:xfrm>
          <a:prstGeom prst="ellipse">
            <a:avLst/>
          </a:prstGeom>
          <a:solidFill>
            <a:srgbClr val="B3382C"/>
          </a:solidFill>
          <a:ln w="12700">
            <a:solidFill>
              <a:srgbClr val="B3382C"/>
            </a:solidFill>
            <a:prstDash val="solid"/>
          </a:ln>
        </p:spPr>
      </p:sp>
      <p:sp>
        <p:nvSpPr>
          <p:cNvPr id="6" name="Text 4"/>
          <p:cNvSpPr txBox="1"/>
          <p:nvPr/>
        </p:nvSpPr>
        <p:spPr>
          <a:xfrm>
            <a:off x="960120" y="207568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91640" y="1929384"/>
            <a:ext cx="9448495" cy="365760"/>
          </a:xfrm>
          <a:prstGeom prst="rect">
            <a:avLst/>
          </a:prstGeom>
          <a:noFill/>
          <a:ln/>
        </p:spPr>
        <p:txBody>
          <a:bodyPr wrap="square" lIns="0" tIns="0" rIns="0" bIns="0" rtlCol="0" anchor="ctr"/>
          <a:lstStyle/>
          <a:p>
            <a:pPr indent="0" marL="0">
              <a:buNone/>
            </a:pPr>
            <a:r>
              <a:rPr lang="en-US" sz="1700" b="1" dirty="0">
                <a:solidFill>
                  <a:srgbClr val="1A2238"/>
                </a:solidFill>
                <a:latin typeface="Calibri" pitchFamily="34" charset="0"/>
                <a:ea typeface="Calibri" pitchFamily="34" charset="-122"/>
                <a:cs typeface="Calibri" pitchFamily="34" charset="-120"/>
              </a:rPr>
              <a:t>The standard recipe quietly costs you</a:t>
            </a:r>
            <a:endParaRPr lang="en-US" sz="1700" dirty="0"/>
          </a:p>
        </p:txBody>
      </p:sp>
      <p:sp>
        <p:nvSpPr>
          <p:cNvPr id="8" name="Text 6"/>
          <p:cNvSpPr txBox="1"/>
          <p:nvPr/>
        </p:nvSpPr>
        <p:spPr>
          <a:xfrm>
            <a:off x="1691640" y="2313432"/>
            <a:ext cx="9448495" cy="54864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quantize_dynamic() is what every tutorial shows. On a real X Elite it cost MobileNetV2 72 points of accuracy — and crashed the runtime outright on whisper-base.</a:t>
            </a:r>
            <a:endParaRPr lang="en-US" sz="1300" dirty="0"/>
          </a:p>
        </p:txBody>
      </p:sp>
      <p:sp>
        <p:nvSpPr>
          <p:cNvPr id="9" name="Shape 7"/>
          <p:cNvSpPr/>
          <p:nvPr/>
        </p:nvSpPr>
        <p:spPr>
          <a:xfrm>
            <a:off x="640080" y="3154680"/>
            <a:ext cx="10911535" cy="1280160"/>
          </a:xfrm>
          <a:prstGeom prst="roundRect">
            <a:avLst>
              <a:gd name="adj" fmla="val 5714"/>
            </a:avLst>
          </a:prstGeom>
          <a:solidFill>
            <a:srgbClr val="F4F6F8"/>
          </a:solidFill>
          <a:ln w="12700">
            <a:solidFill>
              <a:srgbClr val="F4F6F8"/>
            </a:solidFill>
            <a:prstDash val="solid"/>
          </a:ln>
        </p:spPr>
      </p:sp>
      <p:sp>
        <p:nvSpPr>
          <p:cNvPr id="10" name="Shape 8"/>
          <p:cNvSpPr/>
          <p:nvPr/>
        </p:nvSpPr>
        <p:spPr>
          <a:xfrm>
            <a:off x="960120" y="3538728"/>
            <a:ext cx="502920" cy="502920"/>
          </a:xfrm>
          <a:prstGeom prst="ellipse">
            <a:avLst/>
          </a:prstGeom>
          <a:solidFill>
            <a:srgbClr val="B3382C"/>
          </a:solidFill>
          <a:ln w="12700">
            <a:solidFill>
              <a:srgbClr val="B3382C"/>
            </a:solidFill>
            <a:prstDash val="solid"/>
          </a:ln>
        </p:spPr>
      </p:sp>
      <p:sp>
        <p:nvSpPr>
          <p:cNvPr id="11" name="Text 9"/>
          <p:cNvSpPr txBox="1"/>
          <p:nvPr/>
        </p:nvSpPr>
        <p:spPr>
          <a:xfrm>
            <a:off x="960120" y="35387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691640" y="3392424"/>
            <a:ext cx="9448495" cy="365760"/>
          </a:xfrm>
          <a:prstGeom prst="rect">
            <a:avLst/>
          </a:prstGeom>
          <a:noFill/>
          <a:ln/>
        </p:spPr>
        <p:txBody>
          <a:bodyPr wrap="square" lIns="0" tIns="0" rIns="0" bIns="0" rtlCol="0" anchor="ctr"/>
          <a:lstStyle/>
          <a:p>
            <a:pPr indent="0" marL="0">
              <a:buNone/>
            </a:pPr>
            <a:r>
              <a:rPr lang="en-US" sz="1700" b="1" dirty="0">
                <a:solidFill>
                  <a:srgbClr val="1A2238"/>
                </a:solidFill>
                <a:latin typeface="Calibri" pitchFamily="34" charset="0"/>
                <a:ea typeface="Calibri" pitchFamily="34" charset="-122"/>
                <a:cs typeface="Calibri" pitchFamily="34" charset="-120"/>
              </a:rPr>
              <a:t>ONNX Runtime hands you a CPU session</a:t>
            </a:r>
            <a:endParaRPr lang="en-US" sz="1700" dirty="0"/>
          </a:p>
        </p:txBody>
      </p:sp>
      <p:sp>
        <p:nvSpPr>
          <p:cNvPr id="13" name="Text 11"/>
          <p:cNvSpPr txBox="1"/>
          <p:nvPr/>
        </p:nvSpPr>
        <p:spPr>
          <a:xfrm>
            <a:off x="1691640" y="3776472"/>
            <a:ext cx="9448495" cy="54864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The documented providers=[...] argument silently yields CPU-only while your logs say NPU.</a:t>
            </a:r>
            <a:endParaRPr lang="en-US" sz="1300" dirty="0"/>
          </a:p>
        </p:txBody>
      </p:sp>
      <p:sp>
        <p:nvSpPr>
          <p:cNvPr id="14" name="Shape 12"/>
          <p:cNvSpPr/>
          <p:nvPr/>
        </p:nvSpPr>
        <p:spPr>
          <a:xfrm>
            <a:off x="640080" y="4617720"/>
            <a:ext cx="10911535" cy="1280160"/>
          </a:xfrm>
          <a:prstGeom prst="roundRect">
            <a:avLst>
              <a:gd name="adj" fmla="val 5714"/>
            </a:avLst>
          </a:prstGeom>
          <a:solidFill>
            <a:srgbClr val="F4F6F8"/>
          </a:solidFill>
          <a:ln w="12700">
            <a:solidFill>
              <a:srgbClr val="F4F6F8"/>
            </a:solidFill>
            <a:prstDash val="solid"/>
          </a:ln>
        </p:spPr>
      </p:sp>
      <p:sp>
        <p:nvSpPr>
          <p:cNvPr id="15" name="Shape 13"/>
          <p:cNvSpPr/>
          <p:nvPr/>
        </p:nvSpPr>
        <p:spPr>
          <a:xfrm>
            <a:off x="960120" y="5001768"/>
            <a:ext cx="502920" cy="502920"/>
          </a:xfrm>
          <a:prstGeom prst="ellipse">
            <a:avLst/>
          </a:prstGeom>
          <a:solidFill>
            <a:srgbClr val="B3382C"/>
          </a:solidFill>
          <a:ln w="12700">
            <a:solidFill>
              <a:srgbClr val="B3382C"/>
            </a:solidFill>
            <a:prstDash val="solid"/>
          </a:ln>
        </p:spPr>
      </p:sp>
      <p:sp>
        <p:nvSpPr>
          <p:cNvPr id="16" name="Text 14"/>
          <p:cNvSpPr txBox="1"/>
          <p:nvPr/>
        </p:nvSpPr>
        <p:spPr>
          <a:xfrm>
            <a:off x="960120" y="5001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691640" y="4855464"/>
            <a:ext cx="9448495" cy="365760"/>
          </a:xfrm>
          <a:prstGeom prst="rect">
            <a:avLst/>
          </a:prstGeom>
          <a:noFill/>
          <a:ln/>
        </p:spPr>
        <p:txBody>
          <a:bodyPr wrap="square" lIns="0" tIns="0" rIns="0" bIns="0" rtlCol="0" anchor="ctr"/>
          <a:lstStyle/>
          <a:p>
            <a:pPr indent="0" marL="0">
              <a:buNone/>
            </a:pPr>
            <a:r>
              <a:rPr lang="en-US" sz="1700" b="1" dirty="0">
                <a:solidFill>
                  <a:srgbClr val="1A2238"/>
                </a:solidFill>
                <a:latin typeface="Calibri" pitchFamily="34" charset="0"/>
                <a:ea typeface="Calibri" pitchFamily="34" charset="-122"/>
                <a:cs typeface="Calibri" pitchFamily="34" charset="-120"/>
              </a:rPr>
              <a:t>The chip rejects what every local check passed</a:t>
            </a:r>
            <a:endParaRPr lang="en-US" sz="1700" dirty="0"/>
          </a:p>
        </p:txBody>
      </p:sp>
      <p:sp>
        <p:nvSpPr>
          <p:cNvPr id="18" name="Text 16"/>
          <p:cNvSpPr txBox="1"/>
          <p:nvPr/>
        </p:nvSpPr>
        <p:spPr>
          <a:xfrm>
            <a:off x="1691640" y="5239512"/>
            <a:ext cx="9448495" cy="54864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One sign bit on one input of one op type: nine LayerNorms refused on silicon, after a clean local run.</a:t>
            </a:r>
            <a:endParaRPr lang="en-US" sz="1300" dirty="0"/>
          </a:p>
        </p:txBody>
      </p:sp>
      <p:sp>
        <p:nvSpPr>
          <p:cNvPr id="19" name="Text 17"/>
          <p:cNvSpPr txBox="1"/>
          <p:nvPr/>
        </p:nvSpPr>
        <p:spPr>
          <a:xfrm>
            <a:off x="640080" y="6172200"/>
            <a:ext cx="10911535" cy="365760"/>
          </a:xfrm>
          <a:prstGeom prst="rect">
            <a:avLst/>
          </a:prstGeom>
          <a:noFill/>
          <a:ln/>
        </p:spPr>
        <p:txBody>
          <a:bodyPr wrap="square" lIns="0" tIns="0" rIns="0" bIns="0" rtlCol="0" anchor="ctr"/>
          <a:lstStyle/>
          <a:p>
            <a:pPr indent="0" marL="0">
              <a:buNone/>
            </a:pPr>
            <a:r>
              <a:rPr lang="en-US" sz="1400" b="1" dirty="0">
                <a:solidFill>
                  <a:srgbClr val="B3382C"/>
                </a:solidFill>
                <a:latin typeface="Calibri" pitchFamily="34" charset="0"/>
                <a:ea typeface="Calibri" pitchFamily="34" charset="-122"/>
                <a:cs typeface="Calibri" pitchFamily="34" charset="-120"/>
              </a:rPr>
              <a:t>Every one of these failures is silent. The app works. The battery doesn't.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Four parts, one question</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Will this model run on the Hexagon NPU — and did it?</a:t>
            </a:r>
            <a:endParaRPr lang="en-US" sz="1400" dirty="0"/>
          </a:p>
        </p:txBody>
      </p:sp>
      <p:sp>
        <p:nvSpPr>
          <p:cNvPr id="4" name="Shape 2"/>
          <p:cNvSpPr/>
          <p:nvPr/>
        </p:nvSpPr>
        <p:spPr>
          <a:xfrm>
            <a:off x="640080" y="1691640"/>
            <a:ext cx="5272888" cy="1965960"/>
          </a:xfrm>
          <a:prstGeom prst="roundRect">
            <a:avLst>
              <a:gd name="adj" fmla="val 3721"/>
            </a:avLst>
          </a:prstGeom>
          <a:solidFill>
            <a:srgbClr val="F4F6F8"/>
          </a:solidFill>
          <a:ln w="12700">
            <a:solidFill>
              <a:srgbClr val="F4F6F8"/>
            </a:solidFill>
            <a:prstDash val="solid"/>
          </a:ln>
        </p:spPr>
      </p:sp>
      <p:sp>
        <p:nvSpPr>
          <p:cNvPr id="5" name="Shape 3"/>
          <p:cNvSpPr/>
          <p:nvPr/>
        </p:nvSpPr>
        <p:spPr>
          <a:xfrm>
            <a:off x="960120" y="1984248"/>
            <a:ext cx="384048" cy="384048"/>
          </a:xfrm>
          <a:prstGeom prst="ellipse">
            <a:avLst/>
          </a:prstGeom>
          <a:solidFill>
            <a:srgbClr val="1C7293"/>
          </a:solidFill>
          <a:ln w="12700">
            <a:solidFill>
              <a:srgbClr val="1C7293"/>
            </a:solidFill>
            <a:prstDash val="solid"/>
          </a:ln>
        </p:spPr>
      </p:sp>
      <p:sp>
        <p:nvSpPr>
          <p:cNvPr id="6" name="Text 4"/>
          <p:cNvSpPr txBox="1"/>
          <p:nvPr/>
        </p:nvSpPr>
        <p:spPr>
          <a:xfrm>
            <a:off x="1508760" y="1965960"/>
            <a:ext cx="4084168" cy="411480"/>
          </a:xfrm>
          <a:prstGeom prst="rect">
            <a:avLst/>
          </a:prstGeom>
          <a:noFill/>
          <a:ln/>
        </p:spPr>
        <p:txBody>
          <a:bodyPr wrap="square" lIns="0" tIns="0" rIns="0" bIns="0" rtlCol="0" anchor="ctr"/>
          <a:lstStyle/>
          <a:p>
            <a:pPr indent="0" marL="0">
              <a:buNone/>
            </a:pPr>
            <a:r>
              <a:rPr lang="en-US" sz="2100" b="1" dirty="0">
                <a:solidFill>
                  <a:srgbClr val="1A2238"/>
                </a:solidFill>
                <a:latin typeface="Cambria" pitchFamily="34" charset="0"/>
                <a:ea typeface="Cambria" pitchFamily="34" charset="-122"/>
                <a:cs typeface="Cambria" pitchFamily="34" charset="-120"/>
              </a:rPr>
              <a:t>Scanner</a:t>
            </a:r>
            <a:endParaRPr lang="en-US" sz="2100" dirty="0"/>
          </a:p>
        </p:txBody>
      </p:sp>
      <p:sp>
        <p:nvSpPr>
          <p:cNvPr id="7" name="Text 5"/>
          <p:cNvSpPr txBox="1"/>
          <p:nvPr/>
        </p:nvSpPr>
        <p:spPr>
          <a:xfrm>
            <a:off x="960120" y="2514600"/>
            <a:ext cx="4632808" cy="100584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Answers it on any Windows PC with no Snapdragon device: static rules first, then Qualcomm's own HTP compiler locally in about 4 seconds. Names the ops and the reason.</a:t>
            </a:r>
            <a:endParaRPr lang="en-US" sz="1300" dirty="0"/>
          </a:p>
        </p:txBody>
      </p:sp>
      <p:sp>
        <p:nvSpPr>
          <p:cNvPr id="8" name="Shape 6"/>
          <p:cNvSpPr/>
          <p:nvPr/>
        </p:nvSpPr>
        <p:spPr>
          <a:xfrm>
            <a:off x="6278728" y="1691640"/>
            <a:ext cx="5272888" cy="1965960"/>
          </a:xfrm>
          <a:prstGeom prst="roundRect">
            <a:avLst>
              <a:gd name="adj" fmla="val 3721"/>
            </a:avLst>
          </a:prstGeom>
          <a:solidFill>
            <a:srgbClr val="F4F6F8"/>
          </a:solidFill>
          <a:ln w="12700">
            <a:solidFill>
              <a:srgbClr val="F4F6F8"/>
            </a:solidFill>
            <a:prstDash val="solid"/>
          </a:ln>
        </p:spPr>
      </p:sp>
      <p:sp>
        <p:nvSpPr>
          <p:cNvPr id="9" name="Shape 7"/>
          <p:cNvSpPr/>
          <p:nvPr/>
        </p:nvSpPr>
        <p:spPr>
          <a:xfrm>
            <a:off x="6598768" y="1984248"/>
            <a:ext cx="384048" cy="384048"/>
          </a:xfrm>
          <a:prstGeom prst="ellipse">
            <a:avLst/>
          </a:prstGeom>
          <a:solidFill>
            <a:srgbClr val="1C7293"/>
          </a:solidFill>
          <a:ln w="12700">
            <a:solidFill>
              <a:srgbClr val="1C7293"/>
            </a:solidFill>
            <a:prstDash val="solid"/>
          </a:ln>
        </p:spPr>
      </p:sp>
      <p:sp>
        <p:nvSpPr>
          <p:cNvPr id="10" name="Text 8"/>
          <p:cNvSpPr txBox="1"/>
          <p:nvPr/>
        </p:nvSpPr>
        <p:spPr>
          <a:xfrm>
            <a:off x="7147408" y="1965960"/>
            <a:ext cx="4084168" cy="411480"/>
          </a:xfrm>
          <a:prstGeom prst="rect">
            <a:avLst/>
          </a:prstGeom>
          <a:noFill/>
          <a:ln/>
        </p:spPr>
        <p:txBody>
          <a:bodyPr wrap="square" lIns="0" tIns="0" rIns="0" bIns="0" rtlCol="0" anchor="ctr"/>
          <a:lstStyle/>
          <a:p>
            <a:pPr indent="0" marL="0">
              <a:buNone/>
            </a:pPr>
            <a:r>
              <a:rPr lang="en-US" sz="2100" b="1" dirty="0">
                <a:solidFill>
                  <a:srgbClr val="1A2238"/>
                </a:solidFill>
                <a:latin typeface="Cambria" pitchFamily="34" charset="0"/>
                <a:ea typeface="Cambria" pitchFamily="34" charset="-122"/>
                <a:cs typeface="Cambria" pitchFamily="34" charset="-120"/>
              </a:rPr>
              <a:t>Converter</a:t>
            </a:r>
            <a:endParaRPr lang="en-US" sz="2100" dirty="0"/>
          </a:p>
        </p:txBody>
      </p:sp>
      <p:sp>
        <p:nvSpPr>
          <p:cNvPr id="11" name="Text 9"/>
          <p:cNvSpPr txBox="1"/>
          <p:nvPr/>
        </p:nvSpPr>
        <p:spPr>
          <a:xfrm>
            <a:off x="6598768" y="2514600"/>
            <a:ext cx="4632808" cy="100584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Static a16w8 QDQ the QNN-specific way, calibrated on real data — including the fixes that are not in any quickstart.</a:t>
            </a:r>
            <a:endParaRPr lang="en-US" sz="1300" dirty="0"/>
          </a:p>
        </p:txBody>
      </p:sp>
      <p:sp>
        <p:nvSpPr>
          <p:cNvPr id="12" name="Shape 10"/>
          <p:cNvSpPr/>
          <p:nvPr/>
        </p:nvSpPr>
        <p:spPr>
          <a:xfrm>
            <a:off x="640080" y="3977640"/>
            <a:ext cx="5272888" cy="1965960"/>
          </a:xfrm>
          <a:prstGeom prst="roundRect">
            <a:avLst>
              <a:gd name="adj" fmla="val 3721"/>
            </a:avLst>
          </a:prstGeom>
          <a:solidFill>
            <a:srgbClr val="F4F6F8"/>
          </a:solidFill>
          <a:ln w="12700">
            <a:solidFill>
              <a:srgbClr val="F4F6F8"/>
            </a:solidFill>
            <a:prstDash val="solid"/>
          </a:ln>
        </p:spPr>
      </p:sp>
      <p:sp>
        <p:nvSpPr>
          <p:cNvPr id="13" name="Shape 11"/>
          <p:cNvSpPr/>
          <p:nvPr/>
        </p:nvSpPr>
        <p:spPr>
          <a:xfrm>
            <a:off x="960120" y="4270248"/>
            <a:ext cx="384048" cy="384048"/>
          </a:xfrm>
          <a:prstGeom prst="ellipse">
            <a:avLst/>
          </a:prstGeom>
          <a:solidFill>
            <a:srgbClr val="1C7293"/>
          </a:solidFill>
          <a:ln w="12700">
            <a:solidFill>
              <a:srgbClr val="1C7293"/>
            </a:solidFill>
            <a:prstDash val="solid"/>
          </a:ln>
        </p:spPr>
      </p:sp>
      <p:sp>
        <p:nvSpPr>
          <p:cNvPr id="14" name="Text 12"/>
          <p:cNvSpPr txBox="1"/>
          <p:nvPr/>
        </p:nvSpPr>
        <p:spPr>
          <a:xfrm>
            <a:off x="1508760" y="4251960"/>
            <a:ext cx="4084168" cy="411480"/>
          </a:xfrm>
          <a:prstGeom prst="rect">
            <a:avLst/>
          </a:prstGeom>
          <a:noFill/>
          <a:ln/>
        </p:spPr>
        <p:txBody>
          <a:bodyPr wrap="square" lIns="0" tIns="0" rIns="0" bIns="0" rtlCol="0" anchor="ctr"/>
          <a:lstStyle/>
          <a:p>
            <a:pPr indent="0" marL="0">
              <a:buNone/>
            </a:pPr>
            <a:r>
              <a:rPr lang="en-US" sz="2100" b="1" dirty="0">
                <a:solidFill>
                  <a:srgbClr val="1A2238"/>
                </a:solidFill>
                <a:latin typeface="Cambria" pitchFamily="34" charset="0"/>
                <a:ea typeface="Cambria" pitchFamily="34" charset="-122"/>
                <a:cs typeface="Cambria" pitchFamily="34" charset="-120"/>
              </a:rPr>
              <a:t>Validator</a:t>
            </a:r>
            <a:endParaRPr lang="en-US" sz="2100" dirty="0"/>
          </a:p>
        </p:txBody>
      </p:sp>
      <p:sp>
        <p:nvSpPr>
          <p:cNvPr id="15" name="Text 13"/>
          <p:cNvSpPr txBox="1"/>
          <p:nvPr/>
        </p:nvSpPr>
        <p:spPr>
          <a:xfrm>
            <a:off x="960120" y="4800600"/>
            <a:ext cx="4632808" cy="100584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Runs the model on a real Snapdragon X Elite and reconciles the prediction against what the chip actually did.</a:t>
            </a:r>
            <a:endParaRPr lang="en-US" sz="1300" dirty="0"/>
          </a:p>
        </p:txBody>
      </p:sp>
      <p:sp>
        <p:nvSpPr>
          <p:cNvPr id="16" name="Shape 14"/>
          <p:cNvSpPr/>
          <p:nvPr/>
        </p:nvSpPr>
        <p:spPr>
          <a:xfrm>
            <a:off x="6278728" y="3977640"/>
            <a:ext cx="5272888" cy="1965960"/>
          </a:xfrm>
          <a:prstGeom prst="roundRect">
            <a:avLst>
              <a:gd name="adj" fmla="val 3721"/>
            </a:avLst>
          </a:prstGeom>
          <a:solidFill>
            <a:srgbClr val="F4F6F8"/>
          </a:solidFill>
          <a:ln w="12700">
            <a:solidFill>
              <a:srgbClr val="F4F6F8"/>
            </a:solidFill>
            <a:prstDash val="solid"/>
          </a:ln>
        </p:spPr>
      </p:sp>
      <p:sp>
        <p:nvSpPr>
          <p:cNvPr id="17" name="Shape 15"/>
          <p:cNvSpPr/>
          <p:nvPr/>
        </p:nvSpPr>
        <p:spPr>
          <a:xfrm>
            <a:off x="6598768" y="4270248"/>
            <a:ext cx="384048" cy="384048"/>
          </a:xfrm>
          <a:prstGeom prst="ellipse">
            <a:avLst/>
          </a:prstGeom>
          <a:solidFill>
            <a:srgbClr val="1C7293"/>
          </a:solidFill>
          <a:ln w="12700">
            <a:solidFill>
              <a:srgbClr val="1C7293"/>
            </a:solidFill>
            <a:prstDash val="solid"/>
          </a:ln>
        </p:spPr>
      </p:sp>
      <p:sp>
        <p:nvSpPr>
          <p:cNvPr id="18" name="Text 16"/>
          <p:cNvSpPr txBox="1"/>
          <p:nvPr/>
        </p:nvSpPr>
        <p:spPr>
          <a:xfrm>
            <a:off x="7147408" y="4251960"/>
            <a:ext cx="4084168" cy="411480"/>
          </a:xfrm>
          <a:prstGeom prst="rect">
            <a:avLst/>
          </a:prstGeom>
          <a:noFill/>
          <a:ln/>
        </p:spPr>
        <p:txBody>
          <a:bodyPr wrap="square" lIns="0" tIns="0" rIns="0" bIns="0" rtlCol="0" anchor="ctr"/>
          <a:lstStyle/>
          <a:p>
            <a:pPr indent="0" marL="0">
              <a:buNone/>
            </a:pPr>
            <a:r>
              <a:rPr lang="en-US" sz="2100" b="1" dirty="0">
                <a:solidFill>
                  <a:srgbClr val="1A2238"/>
                </a:solidFill>
                <a:latin typeface="Cambria" pitchFamily="34" charset="0"/>
                <a:ea typeface="Cambria" pitchFamily="34" charset="-122"/>
                <a:cs typeface="Cambria" pitchFamily="34" charset="-120"/>
              </a:rPr>
              <a:t>App</a:t>
            </a:r>
            <a:endParaRPr lang="en-US" sz="2100" dirty="0"/>
          </a:p>
        </p:txBody>
      </p:sp>
      <p:sp>
        <p:nvSpPr>
          <p:cNvPr id="19" name="Text 17"/>
          <p:cNvSpPr txBox="1"/>
          <p:nvPr/>
        </p:nvSpPr>
        <p:spPr>
          <a:xfrm>
            <a:off x="6598768" y="4800600"/>
            <a:ext cx="4632808" cy="100584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Speech-to-text server and dashboard that report the execution provider that attached, never the one requested.</a:t>
            </a:r>
            <a:endParaRPr lang="en-US" sz="1300" dirty="0"/>
          </a:p>
        </p:txBody>
      </p:sp>
      <p:sp>
        <p:nvSpPr>
          <p:cNvPr id="20" name="Text 18"/>
          <p:cNvSpPr txBox="1"/>
          <p:nvPr/>
        </p:nvSpPr>
        <p:spPr>
          <a:xfrm>
            <a:off x="640080" y="6080760"/>
            <a:ext cx="10911535"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Built on what already exists: ONNX Runtime's strict no-fallback session, Olive's attention-mask surgery, Qualcomm AI Hub. The missing piece was diagnosis — which failure you have, and which known fix applies.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Measured on a real Snapdragon X Elite</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Qualcomm AI Hub · SC8380XP, Hexagon v73 · every number committed as evidence in models/reports/</a:t>
            </a:r>
            <a:endParaRPr lang="en-US" sz="1400" dirty="0"/>
          </a:p>
        </p:txBody>
      </p:sp>
      <p:sp>
        <p:nvSpPr>
          <p:cNvPr id="4" name="Text 2"/>
          <p:cNvSpPr txBox="1"/>
          <p:nvPr/>
        </p:nvSpPr>
        <p:spPr>
          <a:xfrm>
            <a:off x="640080" y="1737360"/>
            <a:ext cx="274320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17.8 ms</a:t>
            </a:r>
            <a:endParaRPr lang="en-US" sz="4000" dirty="0"/>
          </a:p>
        </p:txBody>
      </p:sp>
      <p:sp>
        <p:nvSpPr>
          <p:cNvPr id="5" name="Text 3"/>
          <p:cNvSpPr txBox="1"/>
          <p:nvPr/>
        </p:nvSpPr>
        <p:spPr>
          <a:xfrm>
            <a:off x="640080" y="2395728"/>
            <a:ext cx="274320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median encoder latency, 100 runs</a:t>
            </a:r>
            <a:endParaRPr lang="en-US" sz="1250" dirty="0"/>
          </a:p>
        </p:txBody>
      </p:sp>
      <p:sp>
        <p:nvSpPr>
          <p:cNvPr id="6" name="Text 4"/>
          <p:cNvSpPr txBox="1"/>
          <p:nvPr/>
        </p:nvSpPr>
        <p:spPr>
          <a:xfrm>
            <a:off x="3566160" y="1737360"/>
            <a:ext cx="274320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185 / 187</a:t>
            </a:r>
            <a:endParaRPr lang="en-US" sz="4000" dirty="0"/>
          </a:p>
        </p:txBody>
      </p:sp>
      <p:sp>
        <p:nvSpPr>
          <p:cNvPr id="7" name="Text 5"/>
          <p:cNvSpPr txBox="1"/>
          <p:nvPr/>
        </p:nvSpPr>
        <p:spPr>
          <a:xfrm>
            <a:off x="3566160" y="2395728"/>
            <a:ext cx="274320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layers on the NPU — the other two are graph-edge conversions</a:t>
            </a:r>
            <a:endParaRPr lang="en-US" sz="1250" dirty="0"/>
          </a:p>
        </p:txBody>
      </p:sp>
      <p:sp>
        <p:nvSpPr>
          <p:cNvPr id="8" name="Text 6"/>
          <p:cNvSpPr txBox="1"/>
          <p:nvPr/>
        </p:nvSpPr>
        <p:spPr>
          <a:xfrm>
            <a:off x="6492240" y="1737360"/>
            <a:ext cx="274320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12.70%</a:t>
            </a:r>
            <a:endParaRPr lang="en-US" sz="4000" dirty="0"/>
          </a:p>
        </p:txBody>
      </p:sp>
      <p:sp>
        <p:nvSpPr>
          <p:cNvPr id="9" name="Text 7"/>
          <p:cNvSpPr txBox="1"/>
          <p:nvPr/>
        </p:nvSpPr>
        <p:spPr>
          <a:xfrm>
            <a:off x="6492240" y="2395728"/>
            <a:ext cx="274320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word error rate — identical to the FP32 reference</a:t>
            </a:r>
            <a:endParaRPr lang="en-US" sz="1250" dirty="0"/>
          </a:p>
        </p:txBody>
      </p:sp>
      <p:sp>
        <p:nvSpPr>
          <p:cNvPr id="10" name="Text 8"/>
          <p:cNvSpPr txBox="1"/>
          <p:nvPr/>
        </p:nvSpPr>
        <p:spPr>
          <a:xfrm>
            <a:off x="9326880" y="1737360"/>
            <a:ext cx="2377440" cy="685800"/>
          </a:xfrm>
          <a:prstGeom prst="rect">
            <a:avLst/>
          </a:prstGeom>
          <a:noFill/>
          <a:ln/>
        </p:spPr>
        <p:txBody>
          <a:bodyPr wrap="square" lIns="0" tIns="0" rIns="0" bIns="0" rtlCol="0" anchor="ctr"/>
          <a:lstStyle/>
          <a:p>
            <a:pPr indent="0" marL="0">
              <a:buNone/>
            </a:pPr>
            <a:r>
              <a:rPr lang="en-US" sz="2900" b="1" dirty="0">
                <a:solidFill>
                  <a:srgbClr val="E8A33D"/>
                </a:solidFill>
                <a:latin typeface="Cambria" pitchFamily="34" charset="0"/>
                <a:ea typeface="Cambria" pitchFamily="34" charset="-122"/>
                <a:cs typeface="Cambria" pitchFamily="34" charset="-120"/>
              </a:rPr>
              <a:t>5.2 → 0.5 s</a:t>
            </a:r>
            <a:endParaRPr lang="en-US" sz="2900" dirty="0"/>
          </a:p>
        </p:txBody>
      </p:sp>
      <p:sp>
        <p:nvSpPr>
          <p:cNvPr id="11" name="Text 9"/>
          <p:cNvSpPr txBox="1"/>
          <p:nvPr/>
        </p:nvSpPr>
        <p:spPr>
          <a:xfrm>
            <a:off x="9326880" y="2395728"/>
            <a:ext cx="237744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cold vs cached graph load</a:t>
            </a:r>
            <a:endParaRPr lang="en-US" sz="1250" dirty="0"/>
          </a:p>
        </p:txBody>
      </p:sp>
      <p:sp>
        <p:nvSpPr>
          <p:cNvPr id="12" name="Shape 10"/>
          <p:cNvSpPr/>
          <p:nvPr/>
        </p:nvSpPr>
        <p:spPr>
          <a:xfrm>
            <a:off x="640080" y="3611880"/>
            <a:ext cx="10911535" cy="1371600"/>
          </a:xfrm>
          <a:prstGeom prst="roundRect">
            <a:avLst>
              <a:gd name="adj" fmla="val 5333"/>
            </a:avLst>
          </a:prstGeom>
          <a:solidFill>
            <a:srgbClr val="F4F6F8"/>
          </a:solidFill>
          <a:ln w="12700">
            <a:solidFill>
              <a:srgbClr val="F4F6F8"/>
            </a:solidFill>
            <a:prstDash val="solid"/>
          </a:ln>
        </p:spPr>
      </p:sp>
      <p:sp>
        <p:nvSpPr>
          <p:cNvPr id="13" name="Text 11"/>
          <p:cNvSpPr txBox="1"/>
          <p:nvPr/>
        </p:nvSpPr>
        <p:spPr>
          <a:xfrm>
            <a:off x="1005840" y="3794760"/>
            <a:ext cx="4572000" cy="365760"/>
          </a:xfrm>
          <a:prstGeom prst="rect">
            <a:avLst/>
          </a:prstGeom>
          <a:noFill/>
          <a:ln/>
        </p:spPr>
        <p:txBody>
          <a:bodyPr wrap="square" lIns="0" tIns="0" rIns="0" bIns="0" rtlCol="0" anchor="ctr"/>
          <a:lstStyle/>
          <a:p>
            <a:pPr indent="0" marL="0">
              <a:buNone/>
            </a:pPr>
            <a:r>
              <a:rPr lang="en-US" sz="1900" b="1" dirty="0">
                <a:solidFill>
                  <a:srgbClr val="1A2238"/>
                </a:solidFill>
                <a:latin typeface="Cambria" pitchFamily="34" charset="0"/>
                <a:ea typeface="Cambria" pitchFamily="34" charset="-122"/>
                <a:cs typeface="Cambria" pitchFamily="34" charset="-120"/>
              </a:rPr>
              <a:t>The silent fallback, priced</a:t>
            </a:r>
            <a:endParaRPr lang="en-US" sz="1900" dirty="0"/>
          </a:p>
        </p:txBody>
      </p:sp>
      <p:sp>
        <p:nvSpPr>
          <p:cNvPr id="14" name="Text 12"/>
          <p:cNvSpPr txBox="1"/>
          <p:nvPr/>
        </p:nvSpPr>
        <p:spPr>
          <a:xfrm>
            <a:off x="1005840" y="4206240"/>
            <a:ext cx="10180015" cy="640080"/>
          </a:xfrm>
          <a:prstGeom prst="rect">
            <a:avLst/>
          </a:prstGeom>
          <a:noFill/>
          <a:ln/>
        </p:spPr>
        <p:txBody>
          <a:bodyPr wrap="square" lIns="0" tIns="0" rIns="0" bIns="0" rtlCol="0" anchor="ctr"/>
          <a:lstStyle/>
          <a:p>
            <a:pPr indent="0" marL="0">
              <a:lnSpc>
                <a:spcPts val="1900"/>
              </a:lnSpc>
              <a:buNone/>
            </a:pPr>
            <a:r>
              <a:rPr lang="en-US" sz="1350" dirty="0">
                <a:solidFill>
                  <a:srgbClr val="23272E"/>
                </a:solidFill>
                <a:latin typeface="Calibri" pitchFamily="34" charset="0"/>
                <a:ea typeface="Calibri" pitchFamily="34" charset="-122"/>
                <a:cs typeface="Calibri" pitchFamily="34" charset="-120"/>
              </a:rPr>
              <a:t>A quantized model that misses the NPU runs 26–28% slower than not quantizing at all — measured in two separate sessions on the same device. Quantizing without checking placement is worse than doing nothing.</a:t>
            </a:r>
            <a:endParaRPr lang="en-US" sz="1350" dirty="0"/>
          </a:p>
        </p:txBody>
      </p:sp>
      <p:sp>
        <p:nvSpPr>
          <p:cNvPr id="15" name="Shape 13"/>
          <p:cNvSpPr/>
          <p:nvPr/>
        </p:nvSpPr>
        <p:spPr>
          <a:xfrm>
            <a:off x="640080" y="5166360"/>
            <a:ext cx="10911535" cy="1234440"/>
          </a:xfrm>
          <a:prstGeom prst="roundRect">
            <a:avLst>
              <a:gd name="adj" fmla="val 5926"/>
            </a:avLst>
          </a:prstGeom>
          <a:solidFill>
            <a:srgbClr val="FBF1E0"/>
          </a:solidFill>
          <a:ln w="12700">
            <a:solidFill>
              <a:srgbClr val="FBF1E0"/>
            </a:solidFill>
            <a:prstDash val="solid"/>
          </a:ln>
        </p:spPr>
      </p:sp>
      <p:sp>
        <p:nvSpPr>
          <p:cNvPr id="16" name="Text 14"/>
          <p:cNvSpPr txBox="1"/>
          <p:nvPr/>
        </p:nvSpPr>
        <p:spPr>
          <a:xfrm>
            <a:off x="1005840" y="5321808"/>
            <a:ext cx="10180015" cy="365760"/>
          </a:xfrm>
          <a:prstGeom prst="rect">
            <a:avLst/>
          </a:prstGeom>
          <a:noFill/>
          <a:ln/>
        </p:spPr>
        <p:txBody>
          <a:bodyPr wrap="square" lIns="0" tIns="0" rIns="0" bIns="0" rtlCol="0" anchor="ctr"/>
          <a:lstStyle/>
          <a:p>
            <a:pPr indent="0" marL="0">
              <a:buNone/>
            </a:pPr>
            <a:r>
              <a:rPr lang="en-US" sz="1700" b="1" dirty="0">
                <a:solidFill>
                  <a:srgbClr val="1A2238"/>
                </a:solidFill>
                <a:latin typeface="Cambria" pitchFamily="34" charset="0"/>
                <a:ea typeface="Cambria" pitchFamily="34" charset="-122"/>
                <a:cs typeface="Cambria" pitchFamily="34" charset="-120"/>
              </a:rPr>
              <a:t>And the scanner catches what the chip rejects — before you own the chip</a:t>
            </a:r>
            <a:endParaRPr lang="en-US" sz="1700" dirty="0"/>
          </a:p>
        </p:txBody>
      </p:sp>
      <p:sp>
        <p:nvSpPr>
          <p:cNvPr id="17" name="Text 15"/>
          <p:cNvSpPr txBox="1"/>
          <p:nvPr/>
        </p:nvSpPr>
        <p:spPr>
          <a:xfrm>
            <a:off x="1005840" y="5705856"/>
            <a:ext cx="10180015" cy="54864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The exact model a real X Elite refused is flagged two ways locally: statically, and by running Qualcomm's compiler. Both device logs — the refusal and the acceptance — are committed in the repository.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Four traps, stacked</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Each one passes every check before it</a:t>
            </a:r>
            <a:endParaRPr lang="en-US" sz="1400" dirty="0"/>
          </a:p>
        </p:txBody>
      </p:sp>
      <p:sp>
        <p:nvSpPr>
          <p:cNvPr id="4" name="Shape 2"/>
          <p:cNvSpPr/>
          <p:nvPr/>
        </p:nvSpPr>
        <p:spPr>
          <a:xfrm>
            <a:off x="640080" y="1645920"/>
            <a:ext cx="5272888" cy="1920240"/>
          </a:xfrm>
          <a:prstGeom prst="roundRect">
            <a:avLst>
              <a:gd name="adj" fmla="val 3810"/>
            </a:avLst>
          </a:prstGeom>
          <a:solidFill>
            <a:srgbClr val="F4F6F8"/>
          </a:solidFill>
          <a:ln w="12700">
            <a:solidFill>
              <a:srgbClr val="F4F6F8"/>
            </a:solidFill>
            <a:prstDash val="solid"/>
          </a:ln>
        </p:spPr>
      </p:sp>
      <p:sp>
        <p:nvSpPr>
          <p:cNvPr id="5" name="Text 3"/>
          <p:cNvSpPr txBox="1"/>
          <p:nvPr/>
        </p:nvSpPr>
        <p:spPr>
          <a:xfrm>
            <a:off x="1005840" y="1874520"/>
            <a:ext cx="4541368" cy="365760"/>
          </a:xfrm>
          <a:prstGeom prst="rect">
            <a:avLst/>
          </a:prstGeom>
          <a:noFill/>
          <a:ln/>
        </p:spPr>
        <p:txBody>
          <a:bodyPr wrap="square" lIns="0" tIns="0" rIns="0" bIns="0" rtlCol="0" anchor="ctr"/>
          <a:lstStyle/>
          <a:p>
            <a:pPr indent="0" marL="0">
              <a:buNone/>
            </a:pPr>
            <a:r>
              <a:rPr lang="en-US" sz="1900" b="1" dirty="0">
                <a:solidFill>
                  <a:srgbClr val="1A2238"/>
                </a:solidFill>
                <a:latin typeface="Cambria" pitchFamily="34" charset="0"/>
                <a:ea typeface="Cambria" pitchFamily="34" charset="-122"/>
                <a:cs typeface="Cambria" pitchFamily="34" charset="-120"/>
              </a:rPr>
              <a:t>“Then don't quantize”</a:t>
            </a:r>
            <a:endParaRPr lang="en-US" sz="1900" dirty="0"/>
          </a:p>
        </p:txBody>
      </p:sp>
      <p:sp>
        <p:nvSpPr>
          <p:cNvPr id="6" name="Text 4"/>
          <p:cNvSpPr txBox="1"/>
          <p:nvPr/>
        </p:nvSpPr>
        <p:spPr>
          <a:xfrm>
            <a:off x="1005840" y="2304288"/>
            <a:ext cx="4541368" cy="82296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The HTP runs float as FP16, and the unquantized encoder compiles into one NPU graph locally. On the device: failed to finalize, error 6000. Twice.</a:t>
            </a:r>
            <a:endParaRPr lang="en-US" sz="1300" dirty="0"/>
          </a:p>
        </p:txBody>
      </p:sp>
      <p:sp>
        <p:nvSpPr>
          <p:cNvPr id="7" name="Text 5"/>
          <p:cNvSpPr txBox="1"/>
          <p:nvPr/>
        </p:nvSpPr>
        <p:spPr>
          <a:xfrm>
            <a:off x="1005840" y="3127248"/>
            <a:ext cx="4541368" cy="32004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Local SDK 2.50, device 2.45.</a:t>
            </a:r>
            <a:endParaRPr lang="en-US" sz="1200" dirty="0"/>
          </a:p>
        </p:txBody>
      </p:sp>
      <p:sp>
        <p:nvSpPr>
          <p:cNvPr id="8" name="Shape 6"/>
          <p:cNvSpPr/>
          <p:nvPr/>
        </p:nvSpPr>
        <p:spPr>
          <a:xfrm>
            <a:off x="6278728" y="1645920"/>
            <a:ext cx="5272888" cy="1920240"/>
          </a:xfrm>
          <a:prstGeom prst="roundRect">
            <a:avLst>
              <a:gd name="adj" fmla="val 3810"/>
            </a:avLst>
          </a:prstGeom>
          <a:solidFill>
            <a:srgbClr val="F4F6F8"/>
          </a:solidFill>
          <a:ln w="12700">
            <a:solidFill>
              <a:srgbClr val="F4F6F8"/>
            </a:solidFill>
            <a:prstDash val="solid"/>
          </a:ln>
        </p:spPr>
      </p:sp>
      <p:sp>
        <p:nvSpPr>
          <p:cNvPr id="9" name="Text 7"/>
          <p:cNvSpPr txBox="1"/>
          <p:nvPr/>
        </p:nvSpPr>
        <p:spPr>
          <a:xfrm>
            <a:off x="6644488" y="1874520"/>
            <a:ext cx="4541368" cy="365760"/>
          </a:xfrm>
          <a:prstGeom prst="rect">
            <a:avLst/>
          </a:prstGeom>
          <a:noFill/>
          <a:ln/>
        </p:spPr>
        <p:txBody>
          <a:bodyPr wrap="square" lIns="0" tIns="0" rIns="0" bIns="0" rtlCol="0" anchor="ctr"/>
          <a:lstStyle/>
          <a:p>
            <a:pPr indent="0" marL="0">
              <a:buNone/>
            </a:pPr>
            <a:r>
              <a:rPr lang="en-US" sz="1900" b="1" dirty="0">
                <a:solidFill>
                  <a:srgbClr val="1A2238"/>
                </a:solidFill>
                <a:latin typeface="Cambria" pitchFamily="34" charset="0"/>
                <a:ea typeface="Cambria" pitchFamily="34" charset="-122"/>
                <a:cs typeface="Cambria" pitchFamily="34" charset="-120"/>
              </a:rPr>
              <a:t>The wrong format</a:t>
            </a:r>
            <a:endParaRPr lang="en-US" sz="1900" dirty="0"/>
          </a:p>
        </p:txBody>
      </p:sp>
      <p:sp>
        <p:nvSpPr>
          <p:cNvPr id="10" name="Text 8"/>
          <p:cNvSpPr txBox="1"/>
          <p:nvPr/>
        </p:nvSpPr>
        <p:spPr>
          <a:xfrm>
            <a:off x="6644488" y="2304288"/>
            <a:ext cx="4541368" cy="82296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Dynamic quantization doesn't reliably cost you the NPU — it reliably costs accuracy. MobileNetV2: 79.5% → 7.2% top-1, with perfect placement.</a:t>
            </a:r>
            <a:endParaRPr lang="en-US" sz="1300" dirty="0"/>
          </a:p>
        </p:txBody>
      </p:sp>
      <p:sp>
        <p:nvSpPr>
          <p:cNvPr id="11" name="Text 9"/>
          <p:cNvSpPr txBox="1"/>
          <p:nvPr/>
        </p:nvSpPr>
        <p:spPr>
          <a:xfrm>
            <a:off x="6644488" y="3127248"/>
            <a:ext cx="4541368" cy="32004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whisper-base crashed the runtime.</a:t>
            </a:r>
            <a:endParaRPr lang="en-US" sz="1200" dirty="0"/>
          </a:p>
        </p:txBody>
      </p:sp>
      <p:sp>
        <p:nvSpPr>
          <p:cNvPr id="12" name="Shape 10"/>
          <p:cNvSpPr/>
          <p:nvPr/>
        </p:nvSpPr>
        <p:spPr>
          <a:xfrm>
            <a:off x="640080" y="3840480"/>
            <a:ext cx="5272888" cy="1920240"/>
          </a:xfrm>
          <a:prstGeom prst="roundRect">
            <a:avLst>
              <a:gd name="adj" fmla="val 3810"/>
            </a:avLst>
          </a:prstGeom>
          <a:solidFill>
            <a:srgbClr val="F4F6F8"/>
          </a:solidFill>
          <a:ln w="12700">
            <a:solidFill>
              <a:srgbClr val="F4F6F8"/>
            </a:solidFill>
            <a:prstDash val="solid"/>
          </a:ln>
        </p:spPr>
      </p:sp>
      <p:sp>
        <p:nvSpPr>
          <p:cNvPr id="13" name="Text 11"/>
          <p:cNvSpPr txBox="1"/>
          <p:nvPr/>
        </p:nvSpPr>
        <p:spPr>
          <a:xfrm>
            <a:off x="1005840" y="4069080"/>
            <a:ext cx="4541368" cy="365760"/>
          </a:xfrm>
          <a:prstGeom prst="rect">
            <a:avLst/>
          </a:prstGeom>
          <a:noFill/>
          <a:ln/>
        </p:spPr>
        <p:txBody>
          <a:bodyPr wrap="square" lIns="0" tIns="0" rIns="0" bIns="0" rtlCol="0" anchor="ctr"/>
          <a:lstStyle/>
          <a:p>
            <a:pPr indent="0" marL="0">
              <a:buNone/>
            </a:pPr>
            <a:r>
              <a:rPr lang="en-US" sz="1900" b="1" dirty="0">
                <a:solidFill>
                  <a:srgbClr val="1A2238"/>
                </a:solidFill>
                <a:latin typeface="Cambria" pitchFamily="34" charset="0"/>
                <a:ea typeface="Cambria" pitchFamily="34" charset="-122"/>
                <a:cs typeface="Cambria" pitchFamily="34" charset="-120"/>
              </a:rPr>
              <a:t>The wrong precision</a:t>
            </a:r>
            <a:endParaRPr lang="en-US" sz="1900" dirty="0"/>
          </a:p>
        </p:txBody>
      </p:sp>
      <p:sp>
        <p:nvSpPr>
          <p:cNvPr id="14" name="Text 12"/>
          <p:cNvSpPr txBox="1"/>
          <p:nvPr/>
        </p:nvSpPr>
        <p:spPr>
          <a:xfrm>
            <a:off x="1005840" y="4498848"/>
            <a:ext cx="4541368" cy="82296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8-bit activations scan 100% NPU-eligible, compile to one graph, and transcribe gibberish: 93.5% word error rate. 16-bit fixes it.</a:t>
            </a:r>
            <a:endParaRPr lang="en-US" sz="1300" dirty="0"/>
          </a:p>
        </p:txBody>
      </p:sp>
      <p:sp>
        <p:nvSpPr>
          <p:cNvPr id="15" name="Text 13"/>
          <p:cNvSpPr txBox="1"/>
          <p:nvPr/>
        </p:nvSpPr>
        <p:spPr>
          <a:xfrm>
            <a:off x="1005840" y="5321808"/>
            <a:ext cx="4541368" cy="32004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Placement says nothing about answers.</a:t>
            </a:r>
            <a:endParaRPr lang="en-US" sz="1200" dirty="0"/>
          </a:p>
        </p:txBody>
      </p:sp>
      <p:sp>
        <p:nvSpPr>
          <p:cNvPr id="16" name="Shape 14"/>
          <p:cNvSpPr/>
          <p:nvPr/>
        </p:nvSpPr>
        <p:spPr>
          <a:xfrm>
            <a:off x="6278728" y="3840480"/>
            <a:ext cx="5272888" cy="1920240"/>
          </a:xfrm>
          <a:prstGeom prst="roundRect">
            <a:avLst>
              <a:gd name="adj" fmla="val 3810"/>
            </a:avLst>
          </a:prstGeom>
          <a:solidFill>
            <a:srgbClr val="F4F6F8"/>
          </a:solidFill>
          <a:ln w="12700">
            <a:solidFill>
              <a:srgbClr val="F4F6F8"/>
            </a:solidFill>
            <a:prstDash val="solid"/>
          </a:ln>
        </p:spPr>
      </p:sp>
      <p:sp>
        <p:nvSpPr>
          <p:cNvPr id="17" name="Text 15"/>
          <p:cNvSpPr txBox="1"/>
          <p:nvPr/>
        </p:nvSpPr>
        <p:spPr>
          <a:xfrm>
            <a:off x="6644488" y="4069080"/>
            <a:ext cx="4541368" cy="365760"/>
          </a:xfrm>
          <a:prstGeom prst="rect">
            <a:avLst/>
          </a:prstGeom>
          <a:noFill/>
          <a:ln/>
        </p:spPr>
        <p:txBody>
          <a:bodyPr wrap="square" lIns="0" tIns="0" rIns="0" bIns="0" rtlCol="0" anchor="ctr"/>
          <a:lstStyle/>
          <a:p>
            <a:pPr indent="0" marL="0">
              <a:buNone/>
            </a:pPr>
            <a:r>
              <a:rPr lang="en-US" sz="1900" b="1" dirty="0">
                <a:solidFill>
                  <a:srgbClr val="1A2238"/>
                </a:solidFill>
                <a:latin typeface="Cambria" pitchFamily="34" charset="0"/>
                <a:ea typeface="Cambria" pitchFamily="34" charset="-122"/>
                <a:cs typeface="Cambria" pitchFamily="34" charset="-120"/>
              </a:rPr>
              <a:t>Only the chip knows</a:t>
            </a:r>
            <a:endParaRPr lang="en-US" sz="1900" dirty="0"/>
          </a:p>
        </p:txBody>
      </p:sp>
      <p:sp>
        <p:nvSpPr>
          <p:cNvPr id="18" name="Text 16"/>
          <p:cNvSpPr txBox="1"/>
          <p:nvPr/>
        </p:nvSpPr>
        <p:spPr>
          <a:xfrm>
            <a:off x="6644488" y="4498848"/>
            <a:ext cx="4541368" cy="82296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a16w8 scanned clean, measured cosine 0.99 locally — and the X Elite refused all nine LayerNorms because gamma was signed int8.</a:t>
            </a:r>
            <a:endParaRPr lang="en-US" sz="1300" dirty="0"/>
          </a:p>
        </p:txBody>
      </p:sp>
      <p:sp>
        <p:nvSpPr>
          <p:cNvPr id="19" name="Text 17"/>
          <p:cNvSpPr txBox="1"/>
          <p:nvPr/>
        </p:nvSpPr>
        <p:spPr>
          <a:xfrm>
            <a:off x="6644488" y="5321808"/>
            <a:ext cx="4541368" cy="32004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Unsigned weights: accepted.</a:t>
            </a:r>
            <a:endParaRPr lang="en-US" sz="1200" dirty="0"/>
          </a:p>
        </p:txBody>
      </p:sp>
      <p:sp>
        <p:nvSpPr>
          <p:cNvPr id="20" name="Text 18"/>
          <p:cNvSpPr txBox="1"/>
          <p:nvPr/>
        </p:nvSpPr>
        <p:spPr>
          <a:xfrm>
            <a:off x="640080" y="6035040"/>
            <a:ext cx="10911535" cy="45720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Trap 2 was my own claim, corrected: the scanner used to say dynamic quantization means 0% NPU. The device disagreed, so the rule changed.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It isn't one model</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Five popular models, both paths, each profiled on the same X Elite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011680"/>
                <a:gridCol w="2743200"/>
                <a:gridCol w="4114800"/>
                <a:gridCol w="2039112"/>
              </a:tblGrid>
              <a:tr h="384048">
                <a:tc>
                  <a:txBody>
                    <a:bodyPr/>
                    <a:lstStyle/>
                    <a:p>
                      <a:pPr indent="0" marL="0">
                        <a:buNone/>
                      </a:pPr>
                      <a:r>
                        <a:rPr lang="en-US" sz="1300" b="1" dirty="0">
                          <a:solidFill>
                            <a:srgbClr val="23272E"/>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b="1" dirty="0">
                          <a:solidFill>
                            <a:srgbClr val="23272E"/>
                          </a:solidFill>
                          <a:latin typeface="Calibri" pitchFamily="34" charset="0"/>
                          <a:ea typeface="Calibri" pitchFamily="34" charset="-122"/>
                          <a:cs typeface="Calibri" pitchFamily="34" charset="-120"/>
                        </a:rPr>
                        <a:t>What it's for</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b="1" dirty="0">
                          <a:solidFill>
                            <a:srgbClr val="23272E"/>
                          </a:solidFill>
                          <a:latin typeface="Calibri" pitchFamily="34" charset="0"/>
                          <a:ea typeface="Calibri" pitchFamily="34" charset="-122"/>
                          <a:cs typeface="Calibri" pitchFamily="34" charset="-120"/>
                        </a:rPr>
                        <a:t>FP32 → naive → this pipeline</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b="1" dirty="0">
                          <a:solidFill>
                            <a:srgbClr val="23272E"/>
                          </a:solidFill>
                          <a:latin typeface="Calibri" pitchFamily="34" charset="0"/>
                          <a:ea typeface="Calibri" pitchFamily="34" charset="-122"/>
                          <a:cs typeface="Calibri" pitchFamily="34" charset="-120"/>
                        </a:rPr>
                        <a:t>On the NPU</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MobileNetV2</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Image classification</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79.5% → 7.2% → 79.5% top-1</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0.36 ms</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Whisper-base</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Speech recognition</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8.84% → 11.33% → 8.84% WER</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45.7 ms</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MiniLM-L6</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Embeddings for local search</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100% → 63.3% → 75.0% same top hit</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1.29 ms</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DistilBERT SST-2</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Sentiment</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90.7% → 90.7% → 91.0%</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2.44 ms</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CLIP ViT-B/32</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Image search</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98.2% → 98.8% → 98.2% zero-shot</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23272E"/>
                          </a:solidFill>
                          <a:latin typeface="Calibri" pitchFamily="34" charset="0"/>
                          <a:ea typeface="Calibri" pitchFamily="34" charset="-122"/>
                          <a:cs typeface="Calibri" pitchFamily="34" charset="-120"/>
                        </a:rPr>
                        <a:t>2.55 ms</a:t>
                      </a:r>
                      <a:endParaRPr lang="en-US" sz="1300" dirty="0">
                        <a:latin typeface="Calibri" charset="0"/>
                        <a:ea typeface="Calibri" charset="0"/>
                        <a:cs typeface="Calibri" charset="0"/>
                      </a:endParaRPr>
                    </a:p>
                  </a:txBody>
                  <a:tcPr marL="91440" marR="91440" marT="45720" marB="45720" anchor="ctr">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709160"/>
            <a:ext cx="10911535" cy="1600200"/>
          </a:xfrm>
          <a:prstGeom prst="roundRect">
            <a:avLst>
              <a:gd name="adj" fmla="val 4571"/>
            </a:avLst>
          </a:prstGeom>
          <a:solidFill>
            <a:srgbClr val="FBF1E0"/>
          </a:solidFill>
          <a:ln w="12700">
            <a:solidFill>
              <a:srgbClr val="FBF1E0"/>
            </a:solidFill>
            <a:prstDash val="solid"/>
          </a:ln>
        </p:spPr>
      </p:sp>
      <p:sp>
        <p:nvSpPr>
          <p:cNvPr id="6" name="Text 3"/>
          <p:cNvSpPr txBox="1"/>
          <p:nvPr/>
        </p:nvSpPr>
        <p:spPr>
          <a:xfrm>
            <a:off x="1005840" y="4873752"/>
            <a:ext cx="10180015" cy="365760"/>
          </a:xfrm>
          <a:prstGeom prst="rect">
            <a:avLst/>
          </a:prstGeom>
          <a:noFill/>
          <a:ln/>
        </p:spPr>
        <p:txBody>
          <a:bodyPr wrap="square" lIns="0" tIns="0" rIns="0" bIns="0" rtlCol="0" anchor="ctr"/>
          <a:lstStyle/>
          <a:p>
            <a:pPr indent="0" marL="0">
              <a:buNone/>
            </a:pPr>
            <a:r>
              <a:rPr lang="en-US" sz="1800" b="1" dirty="0">
                <a:solidFill>
                  <a:srgbClr val="1A2238"/>
                </a:solidFill>
                <a:latin typeface="Cambria" pitchFamily="34" charset="0"/>
                <a:ea typeface="Cambria" pitchFamily="34" charset="-122"/>
                <a:cs typeface="Cambria" pitchFamily="34" charset="-120"/>
              </a:rPr>
              <a:t>The exporter mattered more than the quantizer</a:t>
            </a:r>
            <a:endParaRPr lang="en-US" sz="1800" dirty="0"/>
          </a:p>
        </p:txBody>
      </p:sp>
      <p:sp>
        <p:nvSpPr>
          <p:cNvPr id="7" name="Text 4"/>
          <p:cNvSpPr txBox="1"/>
          <p:nvPr/>
        </p:nvSpPr>
        <p:spPr>
          <a:xfrm>
            <a:off x="1005840" y="5257800"/>
            <a:ext cx="10180015" cy="914400"/>
          </a:xfrm>
          <a:prstGeom prst="rect">
            <a:avLst/>
          </a:prstGeom>
          <a:noFill/>
          <a:ln/>
        </p:spPr>
        <p:txBody>
          <a:bodyPr wrap="square" lIns="0" tIns="0" rIns="0" bIns="0" rtlCol="0" anchor="ctr"/>
          <a:lstStyle/>
          <a:p>
            <a:pPr indent="0" marL="0">
              <a:lnSpc>
                <a:spcPts val="1800"/>
              </a:lnSpc>
              <a:buNone/>
            </a:pPr>
            <a:r>
              <a:rPr lang="en-US" sz="1300" dirty="0">
                <a:solidFill>
                  <a:srgbClr val="23272E"/>
                </a:solidFill>
                <a:latin typeface="Calibri" pitchFamily="34" charset="0"/>
                <a:ea typeface="Calibri" pitchFamily="34" charset="-122"/>
                <a:cs typeface="Calibri" pitchFamily="34" charset="-120"/>
              </a:rPr>
              <a:t>PyTorch's newer exporter decomposes attention into a graph carrying GatherND and IsNaN. That split every transformer here into two NPU graphs, and on the real device they then failed to allocate memory at all. Exporting with the TorchScript exporter and eager attention removed those ops — the same models then compiled into one graph and ran. The model was never the problem.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Against Qualcomm's own NPU Whisper</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Their pre-compiled X Elite build, profiled by me on the same device, through the same harness</a:t>
            </a:r>
            <a:endParaRPr lang="en-US" sz="1400" dirty="0"/>
          </a:p>
        </p:txBody>
      </p:sp>
      <p:graphicFrame>
        <p:nvGraphicFramePr>
          <p:cNvPr id="4" name="Chart 0" descr=""/>
          <p:cNvGraphicFramePr/>
          <p:nvPr/>
        </p:nvGraphicFramePr>
        <p:xfrm>
          <a:off x="640080" y="1691640"/>
          <a:ext cx="6492240" cy="2286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06640" y="1691640"/>
            <a:ext cx="4144975" cy="2286000"/>
          </a:xfrm>
          <a:prstGeom prst="roundRect">
            <a:avLst>
              <a:gd name="adj" fmla="val 3200"/>
            </a:avLst>
          </a:prstGeom>
          <a:solidFill>
            <a:srgbClr val="F4F6F8"/>
          </a:solidFill>
          <a:ln w="12700">
            <a:solidFill>
              <a:srgbClr val="F4F6F8"/>
            </a:solidFill>
            <a:prstDash val="solid"/>
          </a:ln>
        </p:spPr>
      </p:sp>
      <p:sp>
        <p:nvSpPr>
          <p:cNvPr id="6" name="Text 3"/>
          <p:cNvSpPr txBox="1"/>
          <p:nvPr/>
        </p:nvSpPr>
        <p:spPr>
          <a:xfrm>
            <a:off x="7772400" y="1920240"/>
            <a:ext cx="329184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2.60 ms</a:t>
            </a:r>
            <a:endParaRPr lang="en-US" sz="4000" dirty="0"/>
          </a:p>
        </p:txBody>
      </p:sp>
      <p:sp>
        <p:nvSpPr>
          <p:cNvPr id="7" name="Text 4"/>
          <p:cNvSpPr txBox="1"/>
          <p:nvPr/>
        </p:nvSpPr>
        <p:spPr>
          <a:xfrm>
            <a:off x="7772400" y="2578608"/>
            <a:ext cx="329184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per token — Qualcomm's decoder, 509 of 509 layers on the NPU</a:t>
            </a:r>
            <a:endParaRPr lang="en-US" sz="1250" dirty="0"/>
          </a:p>
        </p:txBody>
      </p:sp>
      <p:sp>
        <p:nvSpPr>
          <p:cNvPr id="8" name="Text 5"/>
          <p:cNvSpPr txBox="1"/>
          <p:nvPr/>
        </p:nvSpPr>
        <p:spPr>
          <a:xfrm>
            <a:off x="7772400" y="3200400"/>
            <a:ext cx="3291840" cy="54864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The piece this project does not yet run on the NPU. Now measured, not assumed.</a:t>
            </a:r>
            <a:endParaRPr lang="en-US" sz="1200" dirty="0"/>
          </a:p>
        </p:txBody>
      </p:sp>
      <p:sp>
        <p:nvSpPr>
          <p:cNvPr id="9" name="Shape 6"/>
          <p:cNvSpPr/>
          <p:nvPr/>
        </p:nvSpPr>
        <p:spPr>
          <a:xfrm>
            <a:off x="640080" y="4206240"/>
            <a:ext cx="10911535" cy="2103120"/>
          </a:xfrm>
          <a:prstGeom prst="roundRect">
            <a:avLst>
              <a:gd name="adj" fmla="val 3478"/>
            </a:avLst>
          </a:prstGeom>
          <a:solidFill>
            <a:srgbClr val="F4F6F8"/>
          </a:solidFill>
          <a:ln w="12700">
            <a:solidFill>
              <a:srgbClr val="F4F6F8"/>
            </a:solidFill>
            <a:prstDash val="solid"/>
          </a:ln>
        </p:spPr>
      </p:sp>
      <p:sp>
        <p:nvSpPr>
          <p:cNvPr id="10" name="Text 7"/>
          <p:cNvSpPr txBox="1"/>
          <p:nvPr/>
        </p:nvSpPr>
        <p:spPr>
          <a:xfrm>
            <a:off x="1005840" y="4389120"/>
            <a:ext cx="5486400" cy="365760"/>
          </a:xfrm>
          <a:prstGeom prst="rect">
            <a:avLst/>
          </a:prstGeom>
          <a:noFill/>
          <a:ln/>
        </p:spPr>
        <p:txBody>
          <a:bodyPr wrap="square" lIns="0" tIns="0" rIns="0" bIns="0" rtlCol="0" anchor="ctr"/>
          <a:lstStyle/>
          <a:p>
            <a:pPr indent="0" marL="0">
              <a:buNone/>
            </a:pPr>
            <a:r>
              <a:rPr lang="en-US" sz="1800" b="1" dirty="0">
                <a:solidFill>
                  <a:srgbClr val="1A2238"/>
                </a:solidFill>
                <a:latin typeface="Cambria" pitchFamily="34" charset="0"/>
                <a:ea typeface="Cambria" pitchFamily="34" charset="-122"/>
                <a:cs typeface="Cambria" pitchFamily="34" charset="-120"/>
              </a:rPr>
              <a:t>Read it honestly</a:t>
            </a:r>
            <a:endParaRPr lang="en-US" sz="1800" dirty="0"/>
          </a:p>
        </p:txBody>
      </p:sp>
      <p:sp>
        <p:nvSpPr>
          <p:cNvPr id="11" name="Text 8"/>
          <p:cNvSpPr txBox="1"/>
          <p:nvPr/>
        </p:nvSpPr>
        <p:spPr>
          <a:xfrm>
            <a:off x="1005840" y="4800600"/>
            <a:ext cx="10180015" cy="12801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3272E"/>
                </a:solidFill>
                <a:latin typeface="Calibri" pitchFamily="34" charset="0"/>
                <a:ea typeface="Calibri" pitchFamily="34" charset="-122"/>
                <a:cs typeface="Calibri" pitchFamily="34" charset="-120"/>
              </a:rPr>
              <a:t>The two models are not the same graph — Qualcomm restructures attention and stays in float, this pipeline quantizes.</a:t>
            </a:r>
            <a:endParaRPr lang="en-US" sz="1300" dirty="0"/>
          </a:p>
          <a:p>
            <a:pPr marL="342900" indent="-342900">
              <a:spcAft>
                <a:spcPts val="600"/>
              </a:spcAft>
              <a:buSzPct val="100000"/>
              <a:buChar char="•"/>
            </a:pPr>
            <a:r>
              <a:rPr lang="en-US" sz="1300" dirty="0">
                <a:solidFill>
                  <a:srgbClr val="23272E"/>
                </a:solidFill>
                <a:latin typeface="Calibri" pitchFamily="34" charset="0"/>
                <a:ea typeface="Calibri" pitchFamily="34" charset="-122"/>
                <a:cs typeface="Calibri" pitchFamily="34" charset="-120"/>
              </a:rPr>
              <a:t>The runs are eight days apart on a shared device pool.</a:t>
            </a:r>
            <a:endParaRPr lang="en-US" sz="1300" dirty="0"/>
          </a:p>
          <a:p>
            <a:pPr marL="342900" indent="-342900">
              <a:spcAft>
                <a:spcPts val="600"/>
              </a:spcAft>
              <a:buSzPct val="100000"/>
              <a:buChar char="•"/>
            </a:pPr>
            <a:r>
              <a:rPr lang="en-US" sz="1300" dirty="0">
                <a:solidFill>
                  <a:srgbClr val="23272E"/>
                </a:solidFill>
                <a:latin typeface="Calibri" pitchFamily="34" charset="0"/>
                <a:ea typeface="Calibri" pitchFamily="34" charset="-122"/>
                <a:cs typeface="Calibri" pitchFamily="34" charset="-120"/>
              </a:rPr>
              <a:t>So: a general-purpose quantization path can land in the same league as the vendor's hand-optimised build. Not a benchmark win.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One command on a Snapdragon HP laptop</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Because “it uses the NPU” should be something you can check, not something you're told</a:t>
            </a:r>
            <a:endParaRPr lang="en-US" sz="1400" dirty="0"/>
          </a:p>
        </p:txBody>
      </p:sp>
      <p:sp>
        <p:nvSpPr>
          <p:cNvPr id="4" name="Shape 2"/>
          <p:cNvSpPr/>
          <p:nvPr/>
        </p:nvSpPr>
        <p:spPr>
          <a:xfrm>
            <a:off x="640080" y="1645920"/>
            <a:ext cx="10911535" cy="960120"/>
          </a:xfrm>
          <a:prstGeom prst="roundRect">
            <a:avLst>
              <a:gd name="adj" fmla="val 7619"/>
            </a:avLst>
          </a:prstGeom>
          <a:solidFill>
            <a:srgbClr val="1A2238"/>
          </a:solidFill>
          <a:ln w="12700">
            <a:solidFill>
              <a:srgbClr val="1A2238"/>
            </a:solidFill>
            <a:prstDash val="solid"/>
          </a:ln>
        </p:spPr>
      </p:sp>
      <p:sp>
        <p:nvSpPr>
          <p:cNvPr id="5" name="Text 3"/>
          <p:cNvSpPr txBox="1"/>
          <p:nvPr/>
        </p:nvSpPr>
        <p:spPr>
          <a:xfrm>
            <a:off x="1005840" y="1645920"/>
            <a:ext cx="10180015" cy="960120"/>
          </a:xfrm>
          <a:prstGeom prst="rect">
            <a:avLst/>
          </a:prstGeom>
          <a:noFill/>
          <a:ln/>
        </p:spPr>
        <p:txBody>
          <a:bodyPr wrap="square" lIns="0" tIns="0" rIns="0" bIns="0" rtlCol="0" anchor="ctr"/>
          <a:lstStyle/>
          <a:p>
            <a:pPr indent="0" marL="0">
              <a:buNone/>
            </a:pPr>
            <a:r>
              <a:rPr lang="en-US" sz="1800" dirty="0">
                <a:solidFill>
                  <a:srgbClr val="9FE8C8"/>
                </a:solidFill>
                <a:latin typeface="Courier New" pitchFamily="34" charset="0"/>
                <a:ea typeface="Courier New" pitchFamily="34" charset="-122"/>
                <a:cs typeface="Courier New" pitchFamily="34" charset="-120"/>
              </a:rPr>
              <a:t>powershell -ExecutionPolicy Bypass -File .\setup-snapdragon.ps1</a:t>
            </a:r>
            <a:endParaRPr lang="en-US" sz="1800" dirty="0"/>
          </a:p>
        </p:txBody>
      </p:sp>
      <p:sp>
        <p:nvSpPr>
          <p:cNvPr id="6" name="Shape 4"/>
          <p:cNvSpPr/>
          <p:nvPr/>
        </p:nvSpPr>
        <p:spPr>
          <a:xfrm>
            <a:off x="640080" y="2880360"/>
            <a:ext cx="10911535" cy="960120"/>
          </a:xfrm>
          <a:prstGeom prst="roundRect">
            <a:avLst>
              <a:gd name="adj" fmla="val 7619"/>
            </a:avLst>
          </a:prstGeom>
          <a:solidFill>
            <a:srgbClr val="F4F6F8"/>
          </a:solidFill>
          <a:ln w="12700">
            <a:solidFill>
              <a:srgbClr val="F4F6F8"/>
            </a:solidFill>
            <a:prstDash val="solid"/>
          </a:ln>
        </p:spPr>
      </p:sp>
      <p:sp>
        <p:nvSpPr>
          <p:cNvPr id="7" name="Shape 5"/>
          <p:cNvSpPr/>
          <p:nvPr/>
        </p:nvSpPr>
        <p:spPr>
          <a:xfrm>
            <a:off x="960120" y="3127248"/>
            <a:ext cx="457200" cy="457200"/>
          </a:xfrm>
          <a:prstGeom prst="ellipse">
            <a:avLst/>
          </a:prstGeom>
          <a:solidFill>
            <a:srgbClr val="1C7293"/>
          </a:solidFill>
          <a:ln w="12700">
            <a:solidFill>
              <a:srgbClr val="1C7293"/>
            </a:solidFill>
            <a:prstDash val="solid"/>
          </a:ln>
        </p:spPr>
      </p:sp>
      <p:sp>
        <p:nvSpPr>
          <p:cNvPr id="8" name="Text 6"/>
          <p:cNvSpPr txBox="1"/>
          <p:nvPr/>
        </p:nvSpPr>
        <p:spPr>
          <a:xfrm>
            <a:off x="960120" y="3127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645920" y="3035808"/>
            <a:ext cx="3108960" cy="320040"/>
          </a:xfrm>
          <a:prstGeom prst="rect">
            <a:avLst/>
          </a:prstGeom>
          <a:noFill/>
          <a:ln/>
        </p:spPr>
        <p:txBody>
          <a:bodyPr wrap="square" lIns="0" tIns="0" rIns="0" bIns="0" rtlCol="0" anchor="ctr"/>
          <a:lstStyle/>
          <a:p>
            <a:pPr indent="0" marL="0">
              <a:buNone/>
            </a:pPr>
            <a:r>
              <a:rPr lang="en-US" sz="1600" b="1" dirty="0">
                <a:solidFill>
                  <a:srgbClr val="1A2238"/>
                </a:solidFill>
                <a:latin typeface="Calibri" pitchFamily="34" charset="0"/>
                <a:ea typeface="Calibri" pitchFamily="34" charset="-122"/>
                <a:cs typeface="Calibri" pitchFamily="34" charset="-120"/>
              </a:rPr>
              <a:t>ARM64-native Python</a:t>
            </a:r>
            <a:endParaRPr lang="en-US" sz="1600" dirty="0"/>
          </a:p>
        </p:txBody>
      </p:sp>
      <p:sp>
        <p:nvSpPr>
          <p:cNvPr id="10" name="Text 8"/>
          <p:cNvSpPr txBox="1"/>
          <p:nvPr/>
        </p:nvSpPr>
        <p:spPr>
          <a:xfrm>
            <a:off x="4846320" y="3035808"/>
            <a:ext cx="6339535" cy="64008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x64 Python under emulation can never load QnnHtp.dll — the NPU is unreachable and nothing says so.</a:t>
            </a:r>
            <a:endParaRPr lang="en-US" sz="1300" dirty="0"/>
          </a:p>
        </p:txBody>
      </p:sp>
      <p:sp>
        <p:nvSpPr>
          <p:cNvPr id="11" name="Shape 9"/>
          <p:cNvSpPr/>
          <p:nvPr/>
        </p:nvSpPr>
        <p:spPr>
          <a:xfrm>
            <a:off x="640080" y="3977640"/>
            <a:ext cx="10911535" cy="960120"/>
          </a:xfrm>
          <a:prstGeom prst="roundRect">
            <a:avLst>
              <a:gd name="adj" fmla="val 7619"/>
            </a:avLst>
          </a:prstGeom>
          <a:solidFill>
            <a:srgbClr val="F4F6F8"/>
          </a:solidFill>
          <a:ln w="12700">
            <a:solidFill>
              <a:srgbClr val="F4F6F8"/>
            </a:solidFill>
            <a:prstDash val="solid"/>
          </a:ln>
        </p:spPr>
      </p:sp>
      <p:sp>
        <p:nvSpPr>
          <p:cNvPr id="12" name="Shape 10"/>
          <p:cNvSpPr/>
          <p:nvPr/>
        </p:nvSpPr>
        <p:spPr>
          <a:xfrm>
            <a:off x="960120" y="4224528"/>
            <a:ext cx="457200" cy="457200"/>
          </a:xfrm>
          <a:prstGeom prst="ellipse">
            <a:avLst/>
          </a:prstGeom>
          <a:solidFill>
            <a:srgbClr val="1C7293"/>
          </a:solidFill>
          <a:ln w="12700">
            <a:solidFill>
              <a:srgbClr val="1C7293"/>
            </a:solidFill>
            <a:prstDash val="solid"/>
          </a:ln>
        </p:spPr>
      </p:sp>
      <p:sp>
        <p:nvSpPr>
          <p:cNvPr id="13" name="Text 11"/>
          <p:cNvSpPr txBox="1"/>
          <p:nvPr/>
        </p:nvSpPr>
        <p:spPr>
          <a:xfrm>
            <a:off x="960120" y="4224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1645920" y="4133088"/>
            <a:ext cx="3108960" cy="320040"/>
          </a:xfrm>
          <a:prstGeom prst="rect">
            <a:avLst/>
          </a:prstGeom>
          <a:noFill/>
          <a:ln/>
        </p:spPr>
        <p:txBody>
          <a:bodyPr wrap="square" lIns="0" tIns="0" rIns="0" bIns="0" rtlCol="0" anchor="ctr"/>
          <a:lstStyle/>
          <a:p>
            <a:pPr indent="0" marL="0">
              <a:buNone/>
            </a:pPr>
            <a:r>
              <a:rPr lang="en-US" sz="1600" b="1" dirty="0">
                <a:solidFill>
                  <a:srgbClr val="1A2238"/>
                </a:solidFill>
                <a:latin typeface="Calibri" pitchFamily="34" charset="0"/>
                <a:ea typeface="Calibri" pitchFamily="34" charset="-122"/>
                <a:cs typeface="Calibri" pitchFamily="34" charset="-120"/>
              </a:rPr>
              <a:t>The NPU is visible</a:t>
            </a:r>
            <a:endParaRPr lang="en-US" sz="1600" dirty="0"/>
          </a:p>
        </p:txBody>
      </p:sp>
      <p:sp>
        <p:nvSpPr>
          <p:cNvPr id="15" name="Text 13"/>
          <p:cNvSpPr txBox="1"/>
          <p:nvPr/>
        </p:nvSpPr>
        <p:spPr>
          <a:xfrm>
            <a:off x="4846320" y="4133088"/>
            <a:ext cx="6339535" cy="64008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Registers the plugin properly and reports the devices ONNX Runtime really sees. Names the driver version if it's too old.</a:t>
            </a:r>
            <a:endParaRPr lang="en-US" sz="1300" dirty="0"/>
          </a:p>
        </p:txBody>
      </p:sp>
      <p:sp>
        <p:nvSpPr>
          <p:cNvPr id="16" name="Shape 14"/>
          <p:cNvSpPr/>
          <p:nvPr/>
        </p:nvSpPr>
        <p:spPr>
          <a:xfrm>
            <a:off x="640080" y="5074920"/>
            <a:ext cx="10911535" cy="960120"/>
          </a:xfrm>
          <a:prstGeom prst="roundRect">
            <a:avLst>
              <a:gd name="adj" fmla="val 7619"/>
            </a:avLst>
          </a:prstGeom>
          <a:solidFill>
            <a:srgbClr val="F4F6F8"/>
          </a:solidFill>
          <a:ln w="12700">
            <a:solidFill>
              <a:srgbClr val="F4F6F8"/>
            </a:solidFill>
            <a:prstDash val="solid"/>
          </a:ln>
        </p:spPr>
      </p:sp>
      <p:sp>
        <p:nvSpPr>
          <p:cNvPr id="17" name="Shape 15"/>
          <p:cNvSpPr/>
          <p:nvPr/>
        </p:nvSpPr>
        <p:spPr>
          <a:xfrm>
            <a:off x="960120" y="5321808"/>
            <a:ext cx="457200" cy="457200"/>
          </a:xfrm>
          <a:prstGeom prst="ellipse">
            <a:avLst/>
          </a:prstGeom>
          <a:solidFill>
            <a:srgbClr val="1C7293"/>
          </a:solidFill>
          <a:ln w="12700">
            <a:solidFill>
              <a:srgbClr val="1C7293"/>
            </a:solidFill>
            <a:prstDash val="solid"/>
          </a:ln>
        </p:spPr>
      </p:sp>
      <p:sp>
        <p:nvSpPr>
          <p:cNvPr id="18" name="Text 16"/>
          <p:cNvSpPr txBox="1"/>
          <p:nvPr/>
        </p:nvSpPr>
        <p:spPr>
          <a:xfrm>
            <a:off x="960120" y="5321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1645920" y="5230368"/>
            <a:ext cx="3108960" cy="320040"/>
          </a:xfrm>
          <a:prstGeom prst="rect">
            <a:avLst/>
          </a:prstGeom>
          <a:noFill/>
          <a:ln/>
        </p:spPr>
        <p:txBody>
          <a:bodyPr wrap="square" lIns="0" tIns="0" rIns="0" bIns="0" rtlCol="0" anchor="ctr"/>
          <a:lstStyle/>
          <a:p>
            <a:pPr indent="0" marL="0">
              <a:buNone/>
            </a:pPr>
            <a:r>
              <a:rPr lang="en-US" sz="1600" b="1" dirty="0">
                <a:solidFill>
                  <a:srgbClr val="1A2238"/>
                </a:solidFill>
                <a:latin typeface="Calibri" pitchFamily="34" charset="0"/>
                <a:ea typeface="Calibri" pitchFamily="34" charset="-122"/>
                <a:cs typeface="Calibri" pitchFamily="34" charset="-120"/>
              </a:rPr>
              <a:t>The model is on it</a:t>
            </a:r>
            <a:endParaRPr lang="en-US" sz="1600" dirty="0"/>
          </a:p>
        </p:txBody>
      </p:sp>
      <p:sp>
        <p:nvSpPr>
          <p:cNvPr id="20" name="Text 18"/>
          <p:cNvSpPr txBox="1"/>
          <p:nvPr/>
        </p:nvSpPr>
        <p:spPr>
          <a:xfrm>
            <a:off x="4846320" y="5230368"/>
            <a:ext cx="6339535" cy="640080"/>
          </a:xfrm>
          <a:prstGeom prst="rect">
            <a:avLst/>
          </a:prstGeom>
          <a:noFill/>
          <a:ln/>
        </p:spPr>
        <p:txBody>
          <a:bodyPr wrap="square" lIns="0" tIns="0" rIns="0" bIns="0" rtlCol="0" anchor="ctr"/>
          <a:lstStyle/>
          <a:p>
            <a:pPr indent="0" marL="0">
              <a:buNone/>
            </a:pPr>
            <a:r>
              <a:rPr lang="en-US" sz="1300" dirty="0">
                <a:solidFill>
                  <a:srgbClr val="23272E"/>
                </a:solidFill>
                <a:latin typeface="Calibri" pitchFamily="34" charset="0"/>
                <a:ea typeface="Calibri" pitchFamily="34" charset="-122"/>
                <a:cs typeface="Calibri" pitchFamily="34" charset="-120"/>
              </a:rPr>
              <a:t>Builds a session with CPU fallback disabled. If anything would fall back, the session refuses to start.</a:t>
            </a:r>
            <a:endParaRPr lang="en-US" sz="1300" dirty="0"/>
          </a:p>
        </p:txBody>
      </p:sp>
      <p:sp>
        <p:nvSpPr>
          <p:cNvPr id="21" name="Text 19"/>
          <p:cNvSpPr txBox="1"/>
          <p:nvPr/>
        </p:nvSpPr>
        <p:spPr>
          <a:xfrm>
            <a:off x="640080" y="6263640"/>
            <a:ext cx="10911535"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No Snapdragon hardware needed for the pre-flight check itself — the scanner and the HTP compile check run on any Windows PC.</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640080"/>
          </a:xfrm>
          <a:prstGeom prst="rect">
            <a:avLst/>
          </a:prstGeom>
          <a:noFill/>
          <a:ln/>
        </p:spPr>
        <p:txBody>
          <a:bodyPr wrap="square" lIns="0" tIns="0" rIns="0" bIns="0" rtlCol="0" anchor="ctr"/>
          <a:lstStyle/>
          <a:p>
            <a:pPr indent="0" marL="0">
              <a:buNone/>
            </a:pPr>
            <a:r>
              <a:rPr lang="en-US" sz="3400" b="1" dirty="0">
                <a:solidFill>
                  <a:srgbClr val="1A2238"/>
                </a:solidFill>
                <a:latin typeface="Cambria" pitchFamily="34" charset="0"/>
                <a:ea typeface="Cambria" pitchFamily="34" charset="-122"/>
                <a:cs typeface="Cambria" pitchFamily="34" charset="-120"/>
              </a:rPr>
              <a:t>What I did not prove</a:t>
            </a:r>
            <a:endParaRPr lang="en-US" sz="3400" dirty="0"/>
          </a:p>
        </p:txBody>
      </p:sp>
      <p:sp>
        <p:nvSpPr>
          <p:cNvPr id="3" name="Text 1"/>
          <p:cNvSpPr txBox="1"/>
          <p:nvPr/>
        </p:nvSpPr>
        <p:spPr>
          <a:xfrm>
            <a:off x="640080" y="1024128"/>
            <a:ext cx="1091153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same document that carries the wins carries these</a:t>
            </a:r>
            <a:endParaRPr lang="en-US" sz="1400" dirty="0"/>
          </a:p>
        </p:txBody>
      </p:sp>
      <p:sp>
        <p:nvSpPr>
          <p:cNvPr id="4" name="Shape 2"/>
          <p:cNvSpPr/>
          <p:nvPr/>
        </p:nvSpPr>
        <p:spPr>
          <a:xfrm>
            <a:off x="640080" y="1645920"/>
            <a:ext cx="10911535" cy="1097280"/>
          </a:xfrm>
          <a:prstGeom prst="roundRect">
            <a:avLst>
              <a:gd name="adj" fmla="val 6667"/>
            </a:avLst>
          </a:prstGeom>
          <a:solidFill>
            <a:srgbClr val="F4F6F8"/>
          </a:solidFill>
          <a:ln w="12700">
            <a:solidFill>
              <a:srgbClr val="F4F6F8"/>
            </a:solidFill>
            <a:prstDash val="solid"/>
          </a:ln>
        </p:spPr>
      </p:sp>
      <p:sp>
        <p:nvSpPr>
          <p:cNvPr id="5" name="Text 3"/>
          <p:cNvSpPr txBox="1"/>
          <p:nvPr/>
        </p:nvSpPr>
        <p:spPr>
          <a:xfrm>
            <a:off x="1005840" y="1810512"/>
            <a:ext cx="3931920" cy="731520"/>
          </a:xfrm>
          <a:prstGeom prst="rect">
            <a:avLst/>
          </a:prstGeom>
          <a:noFill/>
          <a:ln/>
        </p:spPr>
        <p:txBody>
          <a:bodyPr wrap="square" lIns="0" tIns="0" rIns="0" bIns="0" rtlCol="0" anchor="t"/>
          <a:lstStyle/>
          <a:p>
            <a:pPr indent="0" marL="0">
              <a:buNone/>
            </a:pPr>
            <a:r>
              <a:rPr lang="en-US" sz="1550" b="1" dirty="0">
                <a:solidFill>
                  <a:srgbClr val="1A2238"/>
                </a:solidFill>
                <a:latin typeface="Calibri" pitchFamily="34" charset="0"/>
                <a:ea typeface="Calibri" pitchFamily="34" charset="-122"/>
                <a:cs typeface="Calibri" pitchFamily="34" charset="-120"/>
              </a:rPr>
              <a:t>Only the encoder is on the NPU</a:t>
            </a:r>
            <a:endParaRPr lang="en-US" sz="1550" dirty="0"/>
          </a:p>
        </p:txBody>
      </p:sp>
      <p:sp>
        <p:nvSpPr>
          <p:cNvPr id="6" name="Text 4"/>
          <p:cNvSpPr txBox="1"/>
          <p:nvPr/>
        </p:nvSpPr>
        <p:spPr>
          <a:xfrm>
            <a:off x="5120640" y="1810512"/>
            <a:ext cx="6065215" cy="777240"/>
          </a:xfrm>
          <a:prstGeom prst="rect">
            <a:avLst/>
          </a:prstGeom>
          <a:noFill/>
          <a:ln/>
        </p:spPr>
        <p:txBody>
          <a:bodyPr wrap="square" lIns="0" tIns="0" rIns="0" bIns="0" rtlCol="0" anchor="t"/>
          <a:lstStyle/>
          <a:p>
            <a:pPr indent="0" marL="0">
              <a:lnSpc>
                <a:spcPts val="1700"/>
              </a:lnSpc>
              <a:buNone/>
            </a:pPr>
            <a:r>
              <a:rPr lang="en-US" sz="1300" dirty="0">
                <a:solidFill>
                  <a:srgbClr val="23272E"/>
                </a:solidFill>
                <a:latin typeface="Calibri" pitchFamily="34" charset="0"/>
                <a:ea typeface="Calibri" pitchFamily="34" charset="-122"/>
                <a:cs typeface="Calibri" pitchFamily="34" charset="-120"/>
              </a:rPr>
              <a:t>The decoder still runs on CPU here. The speedups quoted are encoder speedups. Qualcomm's decoder measurement shows it can live on the NPU; wiring it in needs a physical device to verify.</a:t>
            </a:r>
            <a:endParaRPr lang="en-US" sz="1300" dirty="0"/>
          </a:p>
        </p:txBody>
      </p:sp>
      <p:sp>
        <p:nvSpPr>
          <p:cNvPr id="7" name="Shape 5"/>
          <p:cNvSpPr/>
          <p:nvPr/>
        </p:nvSpPr>
        <p:spPr>
          <a:xfrm>
            <a:off x="640080" y="2852928"/>
            <a:ext cx="10911535" cy="1097280"/>
          </a:xfrm>
          <a:prstGeom prst="roundRect">
            <a:avLst>
              <a:gd name="adj" fmla="val 6667"/>
            </a:avLst>
          </a:prstGeom>
          <a:solidFill>
            <a:srgbClr val="F4F6F8"/>
          </a:solidFill>
          <a:ln w="12700">
            <a:solidFill>
              <a:srgbClr val="F4F6F8"/>
            </a:solidFill>
            <a:prstDash val="solid"/>
          </a:ln>
        </p:spPr>
      </p:sp>
      <p:sp>
        <p:nvSpPr>
          <p:cNvPr id="8" name="Text 6"/>
          <p:cNvSpPr txBox="1"/>
          <p:nvPr/>
        </p:nvSpPr>
        <p:spPr>
          <a:xfrm>
            <a:off x="1005840" y="3017520"/>
            <a:ext cx="3931920" cy="731520"/>
          </a:xfrm>
          <a:prstGeom prst="rect">
            <a:avLst/>
          </a:prstGeom>
          <a:noFill/>
          <a:ln/>
        </p:spPr>
        <p:txBody>
          <a:bodyPr wrap="square" lIns="0" tIns="0" rIns="0" bIns="0" rtlCol="0" anchor="t"/>
          <a:lstStyle/>
          <a:p>
            <a:pPr indent="0" marL="0">
              <a:buNone/>
            </a:pPr>
            <a:r>
              <a:rPr lang="en-US" sz="1550" b="1" dirty="0">
                <a:solidFill>
                  <a:srgbClr val="1A2238"/>
                </a:solidFill>
                <a:latin typeface="Calibri" pitchFamily="34" charset="0"/>
                <a:ea typeface="Calibri" pitchFamily="34" charset="-122"/>
                <a:cs typeface="Calibri" pitchFamily="34" charset="-120"/>
              </a:rPr>
              <a:t>Speedup depends on the CPU baseline</a:t>
            </a:r>
            <a:endParaRPr lang="en-US" sz="1550" dirty="0"/>
          </a:p>
        </p:txBody>
      </p:sp>
      <p:sp>
        <p:nvSpPr>
          <p:cNvPr id="9" name="Text 7"/>
          <p:cNvSpPr txBox="1"/>
          <p:nvPr/>
        </p:nvSpPr>
        <p:spPr>
          <a:xfrm>
            <a:off x="5120640" y="3017520"/>
            <a:ext cx="6065215" cy="777240"/>
          </a:xfrm>
          <a:prstGeom prst="rect">
            <a:avLst/>
          </a:prstGeom>
          <a:noFill/>
          <a:ln/>
        </p:spPr>
        <p:txBody>
          <a:bodyPr wrap="square" lIns="0" tIns="0" rIns="0" bIns="0" rtlCol="0" anchor="t"/>
          <a:lstStyle/>
          <a:p>
            <a:pPr indent="0" marL="0">
              <a:lnSpc>
                <a:spcPts val="1700"/>
              </a:lnSpc>
              <a:buNone/>
            </a:pPr>
            <a:r>
              <a:rPr lang="en-US" sz="1300" dirty="0">
                <a:solidFill>
                  <a:srgbClr val="23272E"/>
                </a:solidFill>
                <a:latin typeface="Calibri" pitchFamily="34" charset="0"/>
                <a:ea typeface="Calibri" pitchFamily="34" charset="-122"/>
                <a:cs typeface="Calibri" pitchFamily="34" charset="-120"/>
              </a:rPr>
              <a:t>24–57× against AI Hub's CPU numbers, but 4–10× against a well-tuned CPU. The honest figure needs a physical X Elite.</a:t>
            </a:r>
            <a:endParaRPr lang="en-US" sz="1300" dirty="0"/>
          </a:p>
        </p:txBody>
      </p:sp>
      <p:sp>
        <p:nvSpPr>
          <p:cNvPr id="10" name="Shape 8"/>
          <p:cNvSpPr/>
          <p:nvPr/>
        </p:nvSpPr>
        <p:spPr>
          <a:xfrm>
            <a:off x="640080" y="4059936"/>
            <a:ext cx="10911535" cy="1097280"/>
          </a:xfrm>
          <a:prstGeom prst="roundRect">
            <a:avLst>
              <a:gd name="adj" fmla="val 6667"/>
            </a:avLst>
          </a:prstGeom>
          <a:solidFill>
            <a:srgbClr val="F4F6F8"/>
          </a:solidFill>
          <a:ln w="12700">
            <a:solidFill>
              <a:srgbClr val="F4F6F8"/>
            </a:solidFill>
            <a:prstDash val="solid"/>
          </a:ln>
        </p:spPr>
      </p:sp>
      <p:sp>
        <p:nvSpPr>
          <p:cNvPr id="11" name="Text 9"/>
          <p:cNvSpPr txBox="1"/>
          <p:nvPr/>
        </p:nvSpPr>
        <p:spPr>
          <a:xfrm>
            <a:off x="1005840" y="4224528"/>
            <a:ext cx="3931920" cy="731520"/>
          </a:xfrm>
          <a:prstGeom prst="rect">
            <a:avLst/>
          </a:prstGeom>
          <a:noFill/>
          <a:ln/>
        </p:spPr>
        <p:txBody>
          <a:bodyPr wrap="square" lIns="0" tIns="0" rIns="0" bIns="0" rtlCol="0" anchor="t"/>
          <a:lstStyle/>
          <a:p>
            <a:pPr indent="0" marL="0">
              <a:buNone/>
            </a:pPr>
            <a:r>
              <a:rPr lang="en-US" sz="1550" b="1" dirty="0">
                <a:solidFill>
                  <a:srgbClr val="1A2238"/>
                </a:solidFill>
                <a:latin typeface="Calibri" pitchFamily="34" charset="0"/>
                <a:ea typeface="Calibri" pitchFamily="34" charset="-122"/>
                <a:cs typeface="Calibri" pitchFamily="34" charset="-120"/>
              </a:rPr>
              <a:t>No power or battery measurement</a:t>
            </a:r>
            <a:endParaRPr lang="en-US" sz="1550" dirty="0"/>
          </a:p>
        </p:txBody>
      </p:sp>
      <p:sp>
        <p:nvSpPr>
          <p:cNvPr id="12" name="Text 10"/>
          <p:cNvSpPr txBox="1"/>
          <p:nvPr/>
        </p:nvSpPr>
        <p:spPr>
          <a:xfrm>
            <a:off x="5120640" y="4224528"/>
            <a:ext cx="6065215" cy="777240"/>
          </a:xfrm>
          <a:prstGeom prst="rect">
            <a:avLst/>
          </a:prstGeom>
          <a:noFill/>
          <a:ln/>
        </p:spPr>
        <p:txBody>
          <a:bodyPr wrap="square" lIns="0" tIns="0" rIns="0" bIns="0" rtlCol="0" anchor="t"/>
          <a:lstStyle/>
          <a:p>
            <a:pPr indent="0" marL="0">
              <a:lnSpc>
                <a:spcPts val="1700"/>
              </a:lnSpc>
              <a:buNone/>
            </a:pPr>
            <a:r>
              <a:rPr lang="en-US" sz="1300" dirty="0">
                <a:solidFill>
                  <a:srgbClr val="23272E"/>
                </a:solidFill>
                <a:latin typeface="Calibri" pitchFamily="34" charset="0"/>
                <a:ea typeface="Calibri" pitchFamily="34" charset="-122"/>
                <a:cs typeface="Calibri" pitchFamily="34" charset="-120"/>
              </a:rPr>
              <a:t>AI Hub doesn't expose it. The efficiency argument for an NPU is the one thing I could not measure.</a:t>
            </a:r>
            <a:endParaRPr lang="en-US" sz="1300" dirty="0"/>
          </a:p>
        </p:txBody>
      </p:sp>
      <p:sp>
        <p:nvSpPr>
          <p:cNvPr id="13" name="Shape 11"/>
          <p:cNvSpPr/>
          <p:nvPr/>
        </p:nvSpPr>
        <p:spPr>
          <a:xfrm>
            <a:off x="640080" y="5266944"/>
            <a:ext cx="10911535" cy="1097280"/>
          </a:xfrm>
          <a:prstGeom prst="roundRect">
            <a:avLst>
              <a:gd name="adj" fmla="val 6667"/>
            </a:avLst>
          </a:prstGeom>
          <a:solidFill>
            <a:srgbClr val="F4F6F8"/>
          </a:solidFill>
          <a:ln w="12700">
            <a:solidFill>
              <a:srgbClr val="F4F6F8"/>
            </a:solidFill>
            <a:prstDash val="solid"/>
          </a:ln>
        </p:spPr>
      </p:sp>
      <p:sp>
        <p:nvSpPr>
          <p:cNvPr id="14" name="Text 12"/>
          <p:cNvSpPr txBox="1"/>
          <p:nvPr/>
        </p:nvSpPr>
        <p:spPr>
          <a:xfrm>
            <a:off x="1005840" y="5431536"/>
            <a:ext cx="3931920" cy="731520"/>
          </a:xfrm>
          <a:prstGeom prst="rect">
            <a:avLst/>
          </a:prstGeom>
          <a:noFill/>
          <a:ln/>
        </p:spPr>
        <p:txBody>
          <a:bodyPr wrap="square" lIns="0" tIns="0" rIns="0" bIns="0" rtlCol="0" anchor="t"/>
          <a:lstStyle/>
          <a:p>
            <a:pPr indent="0" marL="0">
              <a:buNone/>
            </a:pPr>
            <a:r>
              <a:rPr lang="en-US" sz="1550" b="1" dirty="0">
                <a:solidFill>
                  <a:srgbClr val="1A2238"/>
                </a:solidFill>
                <a:latin typeface="Calibri" pitchFamily="34" charset="0"/>
                <a:ea typeface="Calibri" pitchFamily="34" charset="-122"/>
                <a:cs typeface="Calibri" pitchFamily="34" charset="-120"/>
              </a:rPr>
              <a:t>MiniLM loses retrieval quality</a:t>
            </a:r>
            <a:endParaRPr lang="en-US" sz="1550" dirty="0"/>
          </a:p>
        </p:txBody>
      </p:sp>
      <p:sp>
        <p:nvSpPr>
          <p:cNvPr id="15" name="Text 13"/>
          <p:cNvSpPr txBox="1"/>
          <p:nvPr/>
        </p:nvSpPr>
        <p:spPr>
          <a:xfrm>
            <a:off x="5120640" y="5431536"/>
            <a:ext cx="6065215" cy="777240"/>
          </a:xfrm>
          <a:prstGeom prst="rect">
            <a:avLst/>
          </a:prstGeom>
          <a:noFill/>
          <a:ln/>
        </p:spPr>
        <p:txBody>
          <a:bodyPr wrap="square" lIns="0" tIns="0" rIns="0" bIns="0" rtlCol="0" anchor="t"/>
          <a:lstStyle/>
          <a:p>
            <a:pPr indent="0" marL="0">
              <a:lnSpc>
                <a:spcPts val="1700"/>
              </a:lnSpc>
              <a:buNone/>
            </a:pPr>
            <a:r>
              <a:rPr lang="en-US" sz="1300" dirty="0">
                <a:solidFill>
                  <a:srgbClr val="23272E"/>
                </a:solidFill>
                <a:latin typeface="Calibri" pitchFamily="34" charset="0"/>
                <a:ea typeface="Calibri" pitchFamily="34" charset="-122"/>
                <a:cs typeface="Calibri" pitchFamily="34" charset="-120"/>
              </a:rPr>
              <a:t>75.0% same top hit vs FP32. Embedding cosine of 0.987 looks fine and hides it — a16w8 is not free for every model.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238"/>
        </a:solidFill>
      </p:bgPr>
    </p:bg>
    <p:spTree>
      <p:nvGrpSpPr>
        <p:cNvPr id="1" name=""/>
        <p:cNvGrpSpPr/>
        <p:nvPr/>
      </p:nvGrpSpPr>
      <p:grpSpPr>
        <a:xfrm>
          <a:off x="0" y="0"/>
          <a:ext cx="0" cy="0"/>
          <a:chOff x="0" y="0"/>
          <a:chExt cx="0" cy="0"/>
        </a:xfrm>
      </p:grpSpPr>
      <p:sp>
        <p:nvSpPr>
          <p:cNvPr id="2" name="Text 0"/>
          <p:cNvSpPr txBox="1"/>
          <p:nvPr/>
        </p:nvSpPr>
        <p:spPr>
          <a:xfrm>
            <a:off x="640080" y="1554480"/>
            <a:ext cx="96012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Make the NPU checkable</a:t>
            </a:r>
            <a:endParaRPr lang="en-US" sz="4600" dirty="0"/>
          </a:p>
        </p:txBody>
      </p:sp>
      <p:sp>
        <p:nvSpPr>
          <p:cNvPr id="3" name="Text 1"/>
          <p:cNvSpPr txBox="1"/>
          <p:nvPr/>
        </p:nvSpPr>
        <p:spPr>
          <a:xfrm>
            <a:off x="640080" y="2560320"/>
            <a:ext cx="8778240" cy="1280160"/>
          </a:xfrm>
          <a:prstGeom prst="rect">
            <a:avLst/>
          </a:prstGeom>
          <a:noFill/>
          <a:ln/>
        </p:spPr>
        <p:txBody>
          <a:bodyPr wrap="square" lIns="0" tIns="0" rIns="0" bIns="0" rtlCol="0" anchor="ctr"/>
          <a:lstStyle/>
          <a:p>
            <a:pPr indent="0" marL="0">
              <a:lnSpc>
                <a:spcPts val="2500"/>
              </a:lnSpc>
              <a:buNone/>
            </a:pPr>
            <a:r>
              <a:rPr lang="en-US" sz="1600" dirty="0">
                <a:solidFill>
                  <a:srgbClr val="C9D3E0"/>
                </a:solidFill>
                <a:latin typeface="Calibri" pitchFamily="34" charset="0"/>
                <a:ea typeface="Calibri" pitchFamily="34" charset="-122"/>
                <a:cs typeface="Calibri" pitchFamily="34" charset="-120"/>
              </a:rPr>
              <a:t>The Hexagon NPU is the reason to buy the laptop. Today it's reachable only for models someone else already converted — and when it isn't reached, nothing tells you. This turns that into a claim you can check for your model, on your machine, in seconds.</a:t>
            </a:r>
            <a:endParaRPr lang="en-US" sz="1600" dirty="0"/>
          </a:p>
        </p:txBody>
      </p:sp>
      <p:sp>
        <p:nvSpPr>
          <p:cNvPr id="4" name="Text 2"/>
          <p:cNvSpPr txBox="1"/>
          <p:nvPr/>
        </p:nvSpPr>
        <p:spPr>
          <a:xfrm>
            <a:off x="640080" y="4023360"/>
            <a:ext cx="26517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 models</a:t>
            </a:r>
            <a:endParaRPr lang="en-US" sz="4000" dirty="0"/>
          </a:p>
        </p:txBody>
      </p:sp>
      <p:sp>
        <p:nvSpPr>
          <p:cNvPr id="5" name="Text 3"/>
          <p:cNvSpPr txBox="1"/>
          <p:nvPr/>
        </p:nvSpPr>
        <p:spPr>
          <a:xfrm>
            <a:off x="640080" y="4681728"/>
            <a:ext cx="265176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converted and run on a real X Elite</a:t>
            </a:r>
            <a:endParaRPr lang="en-US" sz="1250" dirty="0"/>
          </a:p>
        </p:txBody>
      </p:sp>
      <p:sp>
        <p:nvSpPr>
          <p:cNvPr id="6" name="Text 4"/>
          <p:cNvSpPr txBox="1"/>
          <p:nvPr/>
        </p:nvSpPr>
        <p:spPr>
          <a:xfrm>
            <a:off x="3474720" y="4023360"/>
            <a:ext cx="26517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31 tests</a:t>
            </a:r>
            <a:endParaRPr lang="en-US" sz="4000" dirty="0"/>
          </a:p>
        </p:txBody>
      </p:sp>
      <p:sp>
        <p:nvSpPr>
          <p:cNvPr id="7" name="Text 5"/>
          <p:cNvSpPr txBox="1"/>
          <p:nvPr/>
        </p:nvSpPr>
        <p:spPr>
          <a:xfrm>
            <a:off x="3474720" y="4681728"/>
            <a:ext cx="265176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each pinning a bug that once gave a wrong number</a:t>
            </a:r>
            <a:endParaRPr lang="en-US" sz="1250" dirty="0"/>
          </a:p>
        </p:txBody>
      </p:sp>
      <p:sp>
        <p:nvSpPr>
          <p:cNvPr id="8" name="Text 6"/>
          <p:cNvSpPr txBox="1"/>
          <p:nvPr/>
        </p:nvSpPr>
        <p:spPr>
          <a:xfrm>
            <a:off x="6309360" y="4023360"/>
            <a:ext cx="292608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Every claim</a:t>
            </a:r>
            <a:endParaRPr lang="en-US" sz="4000" dirty="0"/>
          </a:p>
        </p:txBody>
      </p:sp>
      <p:sp>
        <p:nvSpPr>
          <p:cNvPr id="9" name="Text 7"/>
          <p:cNvSpPr txBox="1"/>
          <p:nvPr/>
        </p:nvSpPr>
        <p:spPr>
          <a:xfrm>
            <a:off x="6309360" y="4681728"/>
            <a:ext cx="2926080" cy="6858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traceable to a committed evidence file</a:t>
            </a:r>
            <a:endParaRPr lang="en-US" sz="1250" dirty="0"/>
          </a:p>
        </p:txBody>
      </p:sp>
      <p:sp>
        <p:nvSpPr>
          <p:cNvPr id="10" name="Text 8"/>
          <p:cNvSpPr txBox="1"/>
          <p:nvPr/>
        </p:nvSpPr>
        <p:spPr>
          <a:xfrm>
            <a:off x="640080" y="5943600"/>
            <a:ext cx="10911535" cy="365760"/>
          </a:xfrm>
          <a:prstGeom prst="rect">
            <a:avLst/>
          </a:prstGeom>
          <a:noFill/>
          <a:ln/>
        </p:spPr>
        <p:txBody>
          <a:bodyPr wrap="square" lIns="0" tIns="0" rIns="0" bIns="0" rtlCol="0" anchor="ctr"/>
          <a:lstStyle/>
          <a:p>
            <a:pPr indent="0" marL="0">
              <a:buNone/>
            </a:pPr>
            <a:r>
              <a:rPr lang="en-US" sz="1300" dirty="0">
                <a:solidFill>
                  <a:srgbClr val="8CA0BA"/>
                </a:solidFill>
                <a:latin typeface="Calibri" pitchFamily="34" charset="0"/>
                <a:ea typeface="Calibri" pitchFamily="34" charset="-122"/>
                <a:cs typeface="Calibri" pitchFamily="34" charset="-120"/>
              </a:rPr>
              <a:t>github.com/RishiMaara/Dragonn   ·   MIT   ·   Rishi (RishiMaara)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Hexagon Bridge</dc:title>
  <dc:subject>PptxGenJS Presentation</dc:subject>
  <dc:creator>RishiMaara</dc:creator>
  <cp:lastModifiedBy>RishiMaara</cp:lastModifiedBy>
  <cp:revision>1</cp:revision>
  <dcterms:created xsi:type="dcterms:W3CDTF">2026-09-29T05:43:23Z</dcterms:created>
  <dcterms:modified xsi:type="dcterms:W3CDTF">2026-09-29T05:43:23Z</dcterms:modified>
</cp:coreProperties>
</file>